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4b3b536884698" /><Relationship Type="http://schemas.openxmlformats.org/officeDocument/2006/relationships/extended-properties" Target="/docProps/app.xml" Id="R5f93633106b74666" /><Relationship Type="http://schemas.openxmlformats.org/officeDocument/2006/relationships/officeDocument" Target="/ppt/presentation.xml" Id="Raf050144e9e0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ff9c96a124d91"/>
  </p:sldMasterIdLst>
  <p:notesMasterIdLst>
    <p:notesMasterId xmlns:r="http://schemas.openxmlformats.org/officeDocument/2006/relationships" r:id="Rf6f4ce1a41eb49f2"/>
  </p:notesMasterIdLst>
  <p:sldIdLst>
    <p:sldId xmlns:r="http://schemas.openxmlformats.org/officeDocument/2006/relationships" id="256" r:id="Rd4c7fd4bb9d642cf"/>
    <p:sldId xmlns:r="http://schemas.openxmlformats.org/officeDocument/2006/relationships" id="257" r:id="R0a38b7d6b1ca4a30"/>
    <p:sldId xmlns:r="http://schemas.openxmlformats.org/officeDocument/2006/relationships" id="258" r:id="Rbdda2f8e88a94014"/>
    <p:sldId xmlns:r="http://schemas.openxmlformats.org/officeDocument/2006/relationships" id="259" r:id="R4d6efe81e95b455e"/>
    <p:sldId xmlns:r="http://schemas.openxmlformats.org/officeDocument/2006/relationships" id="260" r:id="R03fc12cf41f74d36"/>
    <p:sldId xmlns:r="http://schemas.openxmlformats.org/officeDocument/2006/relationships" id="261" r:id="R44fae15bb61d476b"/>
    <p:sldId xmlns:r="http://schemas.openxmlformats.org/officeDocument/2006/relationships" id="262" r:id="Rf8eff4eb42fe407c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866f7a5624370" /><Relationship Type="http://schemas.openxmlformats.org/officeDocument/2006/relationships/slideMaster" Target="/ppt/slideMasters/slideMaster1.xml" Id="R0c5ff9c96a124d91" /><Relationship Type="http://schemas.openxmlformats.org/officeDocument/2006/relationships/notesMaster" Target="/ppt/notesMasters/notesMaster1.xml" Id="Rf6f4ce1a41eb49f2" /><Relationship Type="http://schemas.openxmlformats.org/officeDocument/2006/relationships/presProps" Target="/ppt/presProps.xml" Id="Ra9f87a10dd5c4a57" /><Relationship Type="http://schemas.openxmlformats.org/officeDocument/2006/relationships/viewProps" Target="/ppt/viewProps.xml" Id="Re7303cb1d5a54f7a" /><Relationship Type="http://schemas.openxmlformats.org/officeDocument/2006/relationships/tableStyles" Target="/ppt/tableStyles.xml" Id="Ra8c4d2f0f9664117" /><Relationship Type="http://schemas.openxmlformats.org/officeDocument/2006/relationships/slide" Target="/ppt/slides/slide1.xml" Id="Rd4c7fd4bb9d642cf" /><Relationship Type="http://schemas.openxmlformats.org/officeDocument/2006/relationships/slide" Target="/ppt/slides/slide2.xml" Id="R0a38b7d6b1ca4a30" /><Relationship Type="http://schemas.openxmlformats.org/officeDocument/2006/relationships/slide" Target="/ppt/slides/slide3.xml" Id="Rbdda2f8e88a94014" /><Relationship Type="http://schemas.openxmlformats.org/officeDocument/2006/relationships/slide" Target="/ppt/slides/slide4.xml" Id="R4d6efe81e95b455e" /><Relationship Type="http://schemas.openxmlformats.org/officeDocument/2006/relationships/slide" Target="/ppt/slides/slide5.xml" Id="R03fc12cf41f74d36" /><Relationship Type="http://schemas.openxmlformats.org/officeDocument/2006/relationships/slide" Target="/ppt/slides/slide6.xml" Id="R44fae15bb61d476b" /><Relationship Type="http://schemas.openxmlformats.org/officeDocument/2006/relationships/slide" Target="/ppt/slides/slide7.xml" Id="Rf8eff4eb42fe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f22d292ab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5fa337ee646d1" /><Relationship Type="http://schemas.openxmlformats.org/officeDocument/2006/relationships/notesMaster" Target="/ppt/notesMasters/notesMaster1.xml" Id="Rfccb43d35906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c49030afa441e" /><Relationship Type="http://schemas.openxmlformats.org/officeDocument/2006/relationships/notesMaster" Target="/ppt/notesMasters/notesMaster1.xml" Id="R4643f2d5f70848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9093db8374db0" /><Relationship Type="http://schemas.openxmlformats.org/officeDocument/2006/relationships/notesMaster" Target="/ppt/notesMasters/notesMaster1.xml" Id="Rc99df7278bf5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025566ab834446" /><Relationship Type="http://schemas.openxmlformats.org/officeDocument/2006/relationships/notesMaster" Target="/ppt/notesMasters/notesMaster1.xml" Id="R5170842a9e8b4b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2584a00abd49fe" /><Relationship Type="http://schemas.openxmlformats.org/officeDocument/2006/relationships/notesMaster" Target="/ppt/notesMasters/notesMaster1.xml" Id="R9246754353814d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4cfd31406547bb" /><Relationship Type="http://schemas.openxmlformats.org/officeDocument/2006/relationships/notesMaster" Target="/ppt/notesMasters/notesMaster1.xml" Id="R679ad56d6fca43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c933e942b94a46" /><Relationship Type="http://schemas.openxmlformats.org/officeDocument/2006/relationships/notesMaster" Target="/ppt/notesMasters/notesMaster1.xml" Id="R4bbc5ec9872e4b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problem statement, https://be.innosmart.in/media/talentap/Smart%20Data%20Masking%20System%20for%20PII%20Protection_1.pdf</a:t>
            </a:r>
            <a:endParaRPr/>
          </a:p>
          <a:p xmlns:a="http://schemas.openxmlformats.org/drawingml/2006/main">
            <a:r>
              <a:t>Official seven-slide template linked under this problem on the InnoSmart portal, reviewed 17 October 2026.</a:t>
            </a:r>
            <a:endParaRPr/>
          </a:p>
          <a:p xmlns:a="http://schemas.openxmlformats.org/drawingml/2006/main">
            <a:r>
              <a:t>This is a proposed design. Implementation, testing and performance measurements are planned. Initial audience and adoption path are hypotheses, not measured market estimates. Build timing and permitted tools remain subject to organizer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032b887254c8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cb1b987eb45f6" /><Relationship Type="http://schemas.openxmlformats.org/officeDocument/2006/relationships/slideLayout" Target="/ppt/slideLayouts/slideLayout1.xml" Id="Rd39321a7fee747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321a7fee747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5febaded346bb" /><Relationship Type="http://schemas.openxmlformats.org/officeDocument/2006/relationships/notesSlide" Target="/ppt/notesSlides/notesSlide1.xml" Id="R61cd3b8dae2c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6cefe775e4e97" /><Relationship Type="http://schemas.openxmlformats.org/officeDocument/2006/relationships/notesSlide" Target="/ppt/notesSlides/notesSlide2.xml" Id="R6abff22e0bd445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1e6531e594957" /><Relationship Type="http://schemas.openxmlformats.org/officeDocument/2006/relationships/notesSlide" Target="/ppt/notesSlides/notesSlide3.xml" Id="Rb9584252d87d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91c3037db4094" /><Relationship Type="http://schemas.openxmlformats.org/officeDocument/2006/relationships/notesSlide" Target="/ppt/notesSlides/notesSlide4.xml" Id="R24fcef1661c442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bc89041354ac0" /><Relationship Type="http://schemas.openxmlformats.org/officeDocument/2006/relationships/notesSlide" Target="/ppt/notesSlides/notesSlide5.xml" Id="Rd1bf98ef6a0b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966b759c742ad" /><Relationship Type="http://schemas.openxmlformats.org/officeDocument/2006/relationships/notesSlide" Target="/ppt/notesSlides/notesSlide6.xml" Id="R153408347e254f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493d01c104730" /><Relationship Type="http://schemas.openxmlformats.org/officeDocument/2006/relationships/notesSlide" Target="/ppt/notesSlides/notesSlide7.xml" Id="R80e48815b772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478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CE5379-B485-411F-92BC-C4DA76E5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ROUND 1 REVIEW</a:t>
            </a:r>
            <a:endParaRPr sz="5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B83591-A83B-4381-85D4-6D6E46C8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2100" b="0">
                <a:solidFill>
                  <a:srgbClr val="00A6E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0A6E8"/>
                </a:solidFill>
                <a:latin typeface="Calibri"/>
                <a:ea typeface="Calibri"/>
                <a:cs typeface="Calibri"/>
              </a:rPr>
              <a:t>Smart Data Masking System for PII Protection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D9DB0F-088D-4F08-96CA-D14CCA0D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Name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509E73-54F2-45DB-8235-5D3857C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SENTINEX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49A5C4D-4D87-4268-8923-F4E45AD2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032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Team Leader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49F2B73-7474-4CDB-BEBC-97806514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8036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Aswini Lakshya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358C6D-9131-4DE6-AAD5-02B3B67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Track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DBD1B4-A615-4CF2-9292-43DA3AE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BFSI / Problem 11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77C79B-1D67-4CF9-AA03-74B67C2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Date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9323CD-C84B-4AFB-B0BD-62458A69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33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73537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4B33BD-ABA5-4086-B727-2DCA0B7E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83AA9A-60B8-4788-845B-8BF5F3BC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3FE25B-A36B-4D72-8BC2-7AF9CB92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0829AA-85A6-4310-8630-9F88E7F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Sensitive customer fields can reach internal users who do not need the full values.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Support staff, analysts and administrators need different levels of access.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The task is to protect query results across databases while preserving the original records.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F78692-01AC-4132-BD58-7D91CED6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Market Opportunity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F5DA64-1462-43B0-800F-1068BC15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Initial users: financial institutions with support and analytics teams.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adoption: pilot a few sensitive tables, then expand approved policies.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Baseline: manually tagged fields or separate masked copies. We propose one reusable policy layer.</a:t>
            </a:r>
          </a:p>
        </p:txBody>
      </p:sp>
    </p:spTree>
    <p:extLst>
      <p:ext uri="{BB962C8B-B14F-4D97-AF65-F5344CB8AC3E}">
        <p14:creationId xmlns:p14="http://schemas.microsoft.com/office/powerpoint/2010/main" val="158380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EA55B2-7537-4B82-A411-C8B4510A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073318-A022-4FC3-AA03-8E3F322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Solution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DB79DD-B27C-4415-8A91-8FB9A1AD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Solution Overview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1A1655-52A8-4391-8AF5-08CF708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8638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Scan column names and row samples with rules to identify sensitive fields.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Tag fields as PII_HIGH or FINANCIAL_CONFIDENTIAL and apply role policies.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Admin gets full values, Support partial masking, Analyst redaction or keyed hashes.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Enforce the policy before returning results on PostgreSQL and SQLite. Keep raw data unchanged.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736F98-57C0-481C-BA77-7638719A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Proposed flow label">
            <a:extLst xmlns:a="http://schemas.openxmlformats.org/drawingml/2006/main">
              <a:ext uri="{FF2B5EF4-FFF2-40B4-BE49-F238E27FC236}">
                <a16:creationId xmlns:a16="http://schemas.microsoft.com/office/drawing/2014/main" id="{1CB8783A-0DDF-4ED1-919F-65F4D26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00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Proposed role views</a:t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57CA4CD7-C5D5-43B1-9CA0-297ABDC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Admin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Full values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1E2DB999-F946-4366-AC52-5A96DA1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Support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Partial masking</a:t>
            </a:r>
          </a:p>
        </p:txBody>
      </p:sp>
      <p:sp>
        <p:nvSpPr>
          <p:cNvPr id="10" name="Flow 3">
            <a:extLst xmlns:a="http://schemas.openxmlformats.org/drawingml/2006/main">
              <a:ext uri="{FF2B5EF4-FFF2-40B4-BE49-F238E27FC236}">
                <a16:creationId xmlns:a16="http://schemas.microsoft.com/office/drawing/2014/main" id="{C969B2C5-518F-4006-A1D5-554850B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924300"/>
            <a:ext cx="241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Analyst</a:t>
            </a:r>
          </a:p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Redaction or hashes</a:t>
            </a:r>
          </a:p>
        </p:txBody>
      </p:sp>
    </p:spTree>
    <p:extLst>
      <p:ext uri="{BB962C8B-B14F-4D97-AF65-F5344CB8AC3E}">
        <p14:creationId xmlns:p14="http://schemas.microsoft.com/office/powerpoint/2010/main" val="162441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AC0C49-DC3A-4083-B7D1-CC1BB20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1BFA1F-9264-4301-96D7-0BFC044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Steps &amp; Architecture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AEA9C8-BBB3-45EA-A089-C7C3EC6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Technical Implementation</a:t>
            </a:r>
            <a:endParaRPr sz="1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F3C0A1-B23B-400B-BC3B-A45D8B0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657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Connect read-only to PostgreSQL and SQLite.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Scan schema and samples, then review uncertain field tags.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Apply server-side role policies to approved query results.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4. Compare roles and test unchanged source records on both backends.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F918184-8324-423C-A2CC-E589108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Architecture Diagram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21A1C4-7AB5-406A-A02D-16E70A1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spcAft>
                <a:spcPts val="8"/>
              </a:spcAft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8" name="Flow 1">
            <a:extLst xmlns:a="http://schemas.openxmlformats.org/drawingml/2006/main">
              <a:ext uri="{FF2B5EF4-FFF2-40B4-BE49-F238E27FC236}">
                <a16:creationId xmlns:a16="http://schemas.microsoft.com/office/drawing/2014/main" id="{9F1C2139-45B6-42A0-A74A-FE8A835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9542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Verified user role + approved query</a:t>
            </a:r>
          </a:p>
        </p:txBody>
      </p:sp>
      <p:sp>
        <p:nvSpPr>
          <p:cNvPr id="9" name="Flow 2">
            <a:extLst xmlns:a="http://schemas.openxmlformats.org/drawingml/2006/main">
              <a:ext uri="{FF2B5EF4-FFF2-40B4-BE49-F238E27FC236}">
                <a16:creationId xmlns:a16="http://schemas.microsoft.com/office/drawing/2014/main" id="{3832A53B-7A7F-4EFB-B517-8B184761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5740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Read-only database adapter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E2048-25B5-4341-BABB-C1B62BD957B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757988" y="1924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1" name="Flow 3">
            <a:extLst xmlns:a="http://schemas.openxmlformats.org/drawingml/2006/main">
              <a:ext uri="{FF2B5EF4-FFF2-40B4-BE49-F238E27FC236}">
                <a16:creationId xmlns:a16="http://schemas.microsoft.com/office/drawing/2014/main" id="{0CC5C819-161A-4450-AFCC-EA3C5A2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19375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Field tags + masking policy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C80F4-31AA-4E73-B457-E5BA76FD2E7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757988" y="24860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3" name="Flow 4">
            <a:extLst xmlns:a="http://schemas.openxmlformats.org/drawingml/2006/main">
              <a:ext uri="{FF2B5EF4-FFF2-40B4-BE49-F238E27FC236}">
                <a16:creationId xmlns:a16="http://schemas.microsoft.com/office/drawing/2014/main" id="{10D846F2-A93E-4C93-8FDD-4A277CFC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81350"/>
            <a:ext cx="3476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4C87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Only permitted values reach user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391A0-C824-4DA3-8B74-00555D46EC2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757988" y="3048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A6E8"/>
            </a:solidFill>
            <a:tailEnd type="triangle" w="med" len="med"/>
          </a:ln>
        </p:spPr>
      </p:cxnSp>
      <p:sp>
        <p:nvSpPr>
          <p:cNvPr id="15" name="Build plan">
            <a:extLst xmlns:a="http://schemas.openxmlformats.org/drawingml/2006/main">
              <a:ext uri="{FF2B5EF4-FFF2-40B4-BE49-F238E27FC236}">
                <a16:creationId xmlns:a16="http://schemas.microsoft.com/office/drawing/2014/main" id="{2259E7C7-B2A7-43B7-B1C2-44913096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807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stack: Python, SQLAlchemy and Streamlit.</a:t>
            </a:r>
          </a:p>
          <a:p xmlns:a="http://schemas.openxmlformats.org/drawingml/2006/main">
            <a:pPr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Day 1: scan and policy engine. Day 2: second backend, access tests and demo.</a:t>
            </a:r>
          </a:p>
        </p:txBody>
      </p:sp>
    </p:spTree>
    <p:extLst>
      <p:ext uri="{BB962C8B-B14F-4D97-AF65-F5344CB8AC3E}">
        <p14:creationId xmlns:p14="http://schemas.microsoft.com/office/powerpoint/2010/main" val="557350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E30A0D-05A0-452F-A2F3-EE881DD0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AE920A-5311-4661-B800-67161E8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Mitigation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94338-4DBE-4F27-81D9-3E5CB99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1: Missed sensitive fields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785314-EBD6-49FF-B402-4B379F72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names alone can misclassify customer fields.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combine schema and sample patterns. Block uncertain fields pending review.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4F820C-5B3F-4AAF-9BFA-12D57A5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E5C55C-E67E-4430-96FB-CC740CE7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2: Access bypass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DF1C44-3C78-4FE1-A90A-883888C7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a forged role or unsupported query could expose data.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verify roles on the server, restrict queries and deny unsupported requests.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EA6BBB-5BDA-45FF-922C-46E817F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822960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08415C-03A0-4A44-B7F9-0EC2A3F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650" b="1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Challenge 3: Different database behavior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9DE8E4-5FAB-4D41-922A-0F645E0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Problem: field types and query results can differ between backends.</a:t>
            </a:r>
          </a:p>
          <a:p xmlns:a="http://schemas.openxmlformats.org/drawingml/2006/main">
            <a:pPr algn="l">
              <a:spcAft>
                <a:spcPts val="3"/>
              </a:spcAft>
              <a:defRPr sz="13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Mitigation: use adapters and run the same role-policy tests on both databases.</a:t>
            </a:r>
          </a:p>
        </p:txBody>
      </p:sp>
    </p:spTree>
    <p:extLst>
      <p:ext uri="{BB962C8B-B14F-4D97-AF65-F5344CB8AC3E}">
        <p14:creationId xmlns:p14="http://schemas.microsoft.com/office/powerpoint/2010/main" val="147607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31D0F9-9E13-419E-BD6A-DA18504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948717-FF02-49CE-996F-666B811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Unique Selling Proposition (USP)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F7C6EE-A22C-41BF-A78F-308BA66D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70535F-FD42-47E1-BE80-D0695FA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8914BA-2FB0-4A2C-83FD-EE65EF1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Discover and protect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Connect field detection directly to explicit masking policies.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94F7641-6884-4912-80F1-D736110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EC509B-DE19-4F88-A68A-CAD3BF6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2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C17A7C-3B1D-4487-BB91-A28C441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One policy, two backends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Check consistent role behavior on PostgreSQL and SQLite.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0F5B969-BE8B-4E40-B61B-5D65180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0584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1C0276-CE8B-45A0-9EA2-3EEE98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Key Differentiator 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5C9C099-9B97-467F-BF2D-CE889CCE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Originals stay intact</a:t>
            </a:r>
            <a:b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Mask returned values without creating a second customer-data copy.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EACF04-1EB9-4519-A7E0-8C2D30CE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4788"/>
                </a:solidFill>
                <a:latin typeface="Calibri"/>
                <a:ea typeface="Calibri"/>
                <a:cs typeface="Calibri"/>
              </a:rPr>
              <a:t>Competitive Advantage Summary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40E85D-7025-42F0-8694-FDC2FB5D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Test the scanner against a column-name-only baseline to measure detection errors.</a:t>
            </a:r>
          </a:p>
          <a:p xmlns:a="http://schemas.openxmlformats.org/drawingml/2006/main">
            <a:pPr algn="l">
              <a:spcAft>
                <a:spcPts val="8"/>
              </a:spcAft>
              <a:defRPr sz="150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Use a small, inspectable policy layer with access tests instead of relying on screen-only hiding.</a:t>
            </a:r>
          </a:p>
        </p:txBody>
      </p:sp>
    </p:spTree>
    <p:extLst>
      <p:ext uri="{BB962C8B-B14F-4D97-AF65-F5344CB8AC3E}">
        <p14:creationId xmlns:p14="http://schemas.microsoft.com/office/powerpoint/2010/main" val="1848252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43282A-18CA-45BE-AF7B-BB85BF18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78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C36243-3347-4799-86C7-C4137662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POC Video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9A89E7E-8EBF-44FD-9D9F-B8F53B0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875" b="1">
                <a:solidFill>
                  <a:srgbClr val="224C8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24C87"/>
                </a:solidFill>
                <a:latin typeface="Calibri"/>
                <a:ea typeface="Calibri"/>
                <a:cs typeface="Calibri"/>
              </a:rPr>
              <a:t>Live Demonstration: proposed walkthrough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B6E9C0A-27B6-4D99-9305-1B6BF5D5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640080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25400">
            <a:solidFill>
              <a:srgbClr val="00A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1F2A78-D6A5-45C1-AAC5-9EFE52B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90675"/>
            <a:ext cx="6115050" cy="2600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DEMO — prototype not yet built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1. Scan an approved synthetic customer table and inspect its field tags.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2. Run the same approved query as Admin, Support and Analyst.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3. Repeat on both backends, reject a forbidden request and check originals.</a:t>
            </a:r>
          </a:p>
          <a:p xmlns:a="http://schemas.openxmlformats.org/drawingml/2006/main">
            <a:pPr algn="l">
              <a:spcAft>
                <a:spcPts val="12"/>
              </a:spcAft>
              <a:defRPr sz="142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Planned evaluation: scanner precision/recall, role-policy pass rate,</a:t>
            </a:r>
            <a:b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</a:br>
            <a:r>
              <a:rPr sz="142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source-data equality and query latency against an unmasked baseline.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DD4853-4556-4E38-A605-77B72870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00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76200" rIns="76200" bIns="7620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Aft>
                <a:spcPts val="8"/>
              </a:spcAft>
              <a:defRPr sz="12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No video or measured results yet. Demo will follow implementation.</a:t>
            </a:r>
          </a:p>
        </p:txBody>
      </p:sp>
      <p:sp>
        <p:nvSpPr>
          <p:cNvPr id="8" name="Limitations">
            <a:extLst xmlns:a="http://schemas.openxmlformats.org/drawingml/2006/main">
              <a:ext uri="{FF2B5EF4-FFF2-40B4-BE49-F238E27FC236}">
                <a16:creationId xmlns:a16="http://schemas.microsoft.com/office/drawing/2014/main" id="{87F25AD1-86E9-47BE-92F4-A1EE371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MVP scope: approved read-only queries on two backends. Hashes are not a guarantee of anonymity.</a:t>
            </a:r>
          </a:p>
        </p:txBody>
      </p:sp>
      <p:sp>
        <p:nvSpPr>
          <p:cNvPr id="9" name="AI disclosure">
            <a:extLst xmlns:a="http://schemas.openxmlformats.org/drawingml/2006/main">
              <a:ext uri="{FF2B5EF4-FFF2-40B4-BE49-F238E27FC236}">
                <a16:creationId xmlns:a16="http://schemas.microsoft.com/office/drawing/2014/main" id="{5A24D65B-5A38-4B0E-968D-2BB5B7C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28575" rIns="28575" bIns="28575" anchor="t">
            <a:noAutofit/>
          </a:bodyPr>
          <a:lstStyle xmlns:a="http://schemas.openxmlformats.org/drawingml/2006/main">
            <a:def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defPPr>
            <a:lvl1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1pPr>
            <a:lvl2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2pPr>
            <a:lvl3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3pPr>
            <a:lvl4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4pPr>
            <a:lvl5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5pPr>
            <a:lvl6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6pPr>
            <a:lvl7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7pPr>
            <a:lvl8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8pPr>
            <a:lvl9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303030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303030"/>
                </a:solidFill>
                <a:latin typeface="Calibri"/>
                <a:ea typeface="Calibri"/>
                <a:cs typeface="Calibri"/>
              </a:rPr>
              <a:t>AI assistance: Gemini, Claude and ChatGPT/Codex for ideation and proposal drafting.</a:t>
            </a:r>
          </a:p>
        </p:txBody>
      </p:sp>
    </p:spTree>
    <p:extLst>
      <p:ext uri="{BB962C8B-B14F-4D97-AF65-F5344CB8AC3E}">
        <p14:creationId xmlns:p14="http://schemas.microsoft.com/office/powerpoint/2010/main" val="7926780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2026-10-17T10:59:18.1940000Z</dcterms:created>
  <dcterms:modified xsi:type="dcterms:W3CDTF">2026-10-17T10:59:18.1940000Z</dcterms:modified>
</coreProperties>
</file>