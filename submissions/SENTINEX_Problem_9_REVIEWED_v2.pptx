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0c61be9def4ab6" /><Relationship Type="http://schemas.openxmlformats.org/officeDocument/2006/relationships/extended-properties" Target="/docProps/app.xml" Id="Re5bc54fc0aa844f8" /><Relationship Type="http://schemas.openxmlformats.org/officeDocument/2006/relationships/officeDocument" Target="/ppt/presentation.xml" Id="R1de43b22aecc4c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6635b0f69f47f7"/>
  </p:sldMasterIdLst>
  <p:notesMasterIdLst>
    <p:notesMasterId xmlns:r="http://schemas.openxmlformats.org/officeDocument/2006/relationships" r:id="Rcb6c0d682f5845ad"/>
  </p:notesMasterIdLst>
  <p:sldIdLst>
    <p:sldId xmlns:r="http://schemas.openxmlformats.org/officeDocument/2006/relationships" id="256" r:id="R936e646be4a9432b"/>
    <p:sldId xmlns:r="http://schemas.openxmlformats.org/officeDocument/2006/relationships" id="257" r:id="R1db8317ee13d4a4e"/>
    <p:sldId xmlns:r="http://schemas.openxmlformats.org/officeDocument/2006/relationships" id="258" r:id="R3f02534e07ae41a8"/>
    <p:sldId xmlns:r="http://schemas.openxmlformats.org/officeDocument/2006/relationships" id="259" r:id="Racf5e7009302409d"/>
    <p:sldId xmlns:r="http://schemas.openxmlformats.org/officeDocument/2006/relationships" id="260" r:id="R5b53586f9a4840b0"/>
    <p:sldId xmlns:r="http://schemas.openxmlformats.org/officeDocument/2006/relationships" id="261" r:id="Rb762701288584c59"/>
    <p:sldId xmlns:r="http://schemas.openxmlformats.org/officeDocument/2006/relationships" id="262" r:id="Rf6469d14b20d45ad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abb85e58d4317" /><Relationship Type="http://schemas.openxmlformats.org/officeDocument/2006/relationships/slideMaster" Target="/ppt/slideMasters/slideMaster1.xml" Id="R2d6635b0f69f47f7" /><Relationship Type="http://schemas.openxmlformats.org/officeDocument/2006/relationships/notesMaster" Target="/ppt/notesMasters/notesMaster1.xml" Id="Rcb6c0d682f5845ad" /><Relationship Type="http://schemas.openxmlformats.org/officeDocument/2006/relationships/presProps" Target="/ppt/presProps.xml" Id="R34beee7b4ca34e25" /><Relationship Type="http://schemas.openxmlformats.org/officeDocument/2006/relationships/viewProps" Target="/ppt/viewProps.xml" Id="Rb4f9e88dc3ac42b8" /><Relationship Type="http://schemas.openxmlformats.org/officeDocument/2006/relationships/tableStyles" Target="/ppt/tableStyles.xml" Id="R8f10d2534ca6418f" /><Relationship Type="http://schemas.openxmlformats.org/officeDocument/2006/relationships/slide" Target="/ppt/slides/slide1.xml" Id="R936e646be4a9432b" /><Relationship Type="http://schemas.openxmlformats.org/officeDocument/2006/relationships/slide" Target="/ppt/slides/slide2.xml" Id="R1db8317ee13d4a4e" /><Relationship Type="http://schemas.openxmlformats.org/officeDocument/2006/relationships/slide" Target="/ppt/slides/slide3.xml" Id="R3f02534e07ae41a8" /><Relationship Type="http://schemas.openxmlformats.org/officeDocument/2006/relationships/slide" Target="/ppt/slides/slide4.xml" Id="Racf5e7009302409d" /><Relationship Type="http://schemas.openxmlformats.org/officeDocument/2006/relationships/slide" Target="/ppt/slides/slide5.xml" Id="R5b53586f9a4840b0" /><Relationship Type="http://schemas.openxmlformats.org/officeDocument/2006/relationships/slide" Target="/ppt/slides/slide6.xml" Id="Rb762701288584c59" /><Relationship Type="http://schemas.openxmlformats.org/officeDocument/2006/relationships/slide" Target="/ppt/slides/slide7.xml" Id="Rf6469d14b20d45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7b0591a1c44b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f3073f98bc4116" /><Relationship Type="http://schemas.openxmlformats.org/officeDocument/2006/relationships/notesMaster" Target="/ppt/notesMasters/notesMaster1.xml" Id="Rce6c2fd951374d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a2f54b5b4d44f8" /><Relationship Type="http://schemas.openxmlformats.org/officeDocument/2006/relationships/notesMaster" Target="/ppt/notesMasters/notesMaster1.xml" Id="R70cb90359a8842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93c6956a1c402f" /><Relationship Type="http://schemas.openxmlformats.org/officeDocument/2006/relationships/notesMaster" Target="/ppt/notesMasters/notesMaster1.xml" Id="R5ea072f2cccd4d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178a78fd9345d3" /><Relationship Type="http://schemas.openxmlformats.org/officeDocument/2006/relationships/notesMaster" Target="/ppt/notesMasters/notesMaster1.xml" Id="R01349891c33b4b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ce0559ffa04973" /><Relationship Type="http://schemas.openxmlformats.org/officeDocument/2006/relationships/notesMaster" Target="/ppt/notesMasters/notesMaster1.xml" Id="Rd8071978c13140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c7986c70724b7c" /><Relationship Type="http://schemas.openxmlformats.org/officeDocument/2006/relationships/notesMaster" Target="/ppt/notesMasters/notesMaster1.xml" Id="R95db7450873644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f666c32b284f41" /><Relationship Type="http://schemas.openxmlformats.org/officeDocument/2006/relationships/notesMaster" Target="/ppt/notesMasters/notesMaster1.xml" Id="R71d3decde8a448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https://be.innosmart.in/media/talentap/H4.%20The%20Medication%20Safety%20Second%20Pair%20of%20Eyes_2.pdf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Silent recording of the working local prototype, 17 October 2026. Burned-in captions, red highlights and arrows explain the tests. Browser link: https://drive.google.com/file/d/18q2uwPBda-AzrffcW6c4JY9j5vB-349o/view?usp=drivesdk. Fictional medicines and illustrative rules only. No clinical validation. Official 300-case evaluation not run.</a:t>
            </a:r>
          </a:p>
          <a:p xmlns:a="http://schemas.openxmlformats.org/drawingml/2006/main">
            <a:r>
              <a:t>Measured demo results: {</a:t>
            </a:r>
            <a:br/>
            <a:r>
              <a:t>  "cases": [</a:t>
            </a:r>
            <a:br/>
            <a:r>
              <a:t>    {</a:t>
            </a:r>
            <a:br/>
            <a:r>
              <a:t>      "case": "review",</a:t>
            </a:r>
            <a:br/>
            <a:r>
              <a:t>      "expected": [</a:t>
            </a:r>
            <a:br/>
            <a:r>
              <a:t>        "DUP-A",</a:t>
            </a:r>
            <a:br/>
            <a:r>
              <a:t>        "INT-01",</a:t>
            </a:r>
            <a:br/>
            <a:r>
              <a:t>        "REN-A"</a:t>
            </a:r>
            <a:br/>
            <a:r>
              <a:t>      ],</a:t>
            </a:r>
            <a:br/>
            <a:r>
              <a:t>      "observed": [</a:t>
            </a:r>
            <a:br/>
            <a:r>
              <a:t>        "DUP-A",</a:t>
            </a:r>
            <a:br/>
            <a:r>
              <a:t>        "INT-01",</a:t>
            </a:r>
            <a:br/>
            <a:r>
              <a:t>        "REN-A"</a:t>
            </a:r>
            <a:br/>
            <a:r>
              <a:t>      ],</a:t>
            </a:r>
            <a:br/>
            <a:r>
              <a:t>      "pass": true</a:t>
            </a:r>
            <a:br/>
            <a:r>
              <a:t>    },</a:t>
            </a:r>
            <a:br/>
            <a:r>
              <a:t>    {</a:t>
            </a:r>
            <a:br/>
            <a:r>
              <a:t>      "case": "pregnancy",</a:t>
            </a:r>
            <a:br/>
            <a:r>
              <a:t>      "expected": [</a:t>
            </a:r>
            <a:br/>
            <a:r>
              <a:t>        "CON-C"</a:t>
            </a:r>
            <a:br/>
            <a:r>
              <a:t>      ],</a:t>
            </a:r>
            <a:br/>
            <a:r>
              <a:t>      "observed": [</a:t>
            </a:r>
            <a:br/>
            <a:r>
              <a:t>        "CON-C"</a:t>
            </a:r>
            <a:br/>
            <a:r>
              <a:t>      ],</a:t>
            </a:r>
            <a:br/>
            <a:r>
              <a:t>      "pass": true</a:t>
            </a:r>
            <a:br/>
            <a:r>
              <a:t>    },</a:t>
            </a:r>
            <a:br/>
            <a:r>
              <a:t>    {</a:t>
            </a:r>
            <a:br/>
            <a:r>
              <a:t>      "case": "no_issue",</a:t>
            </a:r>
            <a:br/>
            <a:r>
              <a:t>      "expected": [],</a:t>
            </a:r>
            <a:br/>
            <a:r>
              <a:t>      "observed": [],</a:t>
            </a:r>
            <a:br/>
            <a:r>
              <a:t>      "pass": true</a:t>
            </a:r>
            <a:br/>
            <a:r>
              <a:t>    },</a:t>
            </a:r>
            <a:br/>
            <a:r>
              <a:t>    {</a:t>
            </a:r>
            <a:br/>
            <a:r>
              <a:t>      "case": "incomplete",</a:t>
            </a:r>
            <a:br/>
            <a:r>
              <a:t>      "expected": [],</a:t>
            </a:r>
            <a:br/>
            <a:r>
              <a:t>      "observed": [],</a:t>
            </a:r>
            <a:br/>
            <a:r>
              <a:t>      "pass": true</a:t>
            </a:r>
            <a:br/>
            <a:r>
              <a:t>    }</a:t>
            </a:r>
            <a:br/>
            <a:r>
              <a:t>  ],</a:t>
            </a:r>
            <a:br/>
            <a:r>
              <a:t>  "extra_alerts": 0,</a:t>
            </a:r>
            <a:br/>
            <a:r>
              <a:t>  "limitations": "Tiny handcrafted demo fixtures only. Official 300-case near-miss recall is not measured. Organizer reference and evaluate.py have not been supplied.",</a:t>
            </a:r>
            <a:br/>
            <a:r>
              <a:t>  "matching": {</a:t>
            </a:r>
            <a:br/>
            <a:r>
              <a:t>    "passed": 8,</a:t>
            </a:r>
            <a:br/>
            <a:r>
              <a:t>    "total": 8</a:t>
            </a:r>
            <a:br/>
            <a:r>
              <a:t>  },</a:t>
            </a:r>
            <a:br/>
            <a:r>
              <a:t>  "official_near_miss_recall": null,</a:t>
            </a:r>
            <a:br/>
            <a:r>
              <a:t>  "serious": {</a:t>
            </a:r>
            <a:br/>
            <a:r>
              <a:t>    "found": 3,</a:t>
            </a:r>
            <a:br/>
            <a:r>
              <a:t>    "total": 3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271391b39c4fe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c12eae9c00498e" /><Relationship Type="http://schemas.openxmlformats.org/officeDocument/2006/relationships/slideLayout" Target="/ppt/slideLayouts/slideLayout1.xml" Id="Ref3a17a9e38f47b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3a17a9e38f47b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283c6b6564340" /><Relationship Type="http://schemas.openxmlformats.org/officeDocument/2006/relationships/notesSlide" Target="/ppt/notesSlides/notesSlide1.xml" Id="R2b04732b534147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e9ca6ce4a41b5" /><Relationship Type="http://schemas.openxmlformats.org/officeDocument/2006/relationships/notesSlide" Target="/ppt/notesSlides/notesSlide2.xml" Id="Ra5ddfa76dd4b45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da68eb11147a8" /><Relationship Type="http://schemas.openxmlformats.org/officeDocument/2006/relationships/notesSlide" Target="/ppt/notesSlides/notesSlide3.xml" Id="R364877ff1b7747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81236070d4f43" /><Relationship Type="http://schemas.openxmlformats.org/officeDocument/2006/relationships/notesSlide" Target="/ppt/notesSlides/notesSlide4.xml" Id="R23b8f06f6ad44a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638296b8548b9" /><Relationship Type="http://schemas.openxmlformats.org/officeDocument/2006/relationships/notesSlide" Target="/ppt/notesSlides/notesSlide5.xml" Id="R773a4eacadad41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a0ca8a5bf4c8f" /><Relationship Type="http://schemas.openxmlformats.org/officeDocument/2006/relationships/notesSlide" Target="/ppt/notesSlides/notesSlide6.xml" Id="R47d864e24f984df6" /></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82a05511e734bf9" /><ns0:Relationship Type="http://schemas.openxmlformats.org/officeDocument/2006/relationships/image" Target="/ppt/media/image.png" Id="Ra23345aa351d490b" /><ns0:Relationship Type="http://schemas.openxmlformats.org/officeDocument/2006/relationships/notesSlide" Target="/ppt/notesSlides/notesSlide7.xml" Id="R8932b5552d6c4bde" /><ns0:Relationship Id="rIdDemoLink" Type="http://schemas.openxmlformats.org/officeDocument/2006/relationships/hyperlink" Target="https://drive.google.com/file/d/18q2uwPBda-AzrffcW6c4JY9j5vB-349o/view?usp=drivesdk" TargetMode="External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478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1AC1F7-C5BB-484B-A110-22838CBD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ROUND 1 REVIEW</a:t>
            </a:r>
            <a:endParaRPr sz="5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0E2DBC-159E-4277-A567-4107C696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buNone/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A6E8"/>
                </a:solidFill>
                <a:latin typeface="Calibri"/>
                <a:ea typeface="Calibri"/>
                <a:cs typeface="Calibri"/>
              </a:rPr>
              <a:t>MedSafe | The Medication Safety Second Pair of Eyes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391BCC-AEFF-460E-81A6-C4263237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Name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FCC2A76-4874-446F-B188-53AE94D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SENTINEX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511B021-E50E-490E-9062-C70C3325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Leader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F1E5639-6688-4A58-9AB5-733313D2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Aswini Lakshya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27689C2-AA1A-41B2-ACFA-A9FAA018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Track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CB6D2F-F61F-4C36-B6EC-B751C8D3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Healthcare / Problem 9 (H4)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14D25B6-88B4-4142-9ED5-A5DE759E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Date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A02C413-0C03-4E92-8EEC-13A31F21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25982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730E5A-B7A8-4070-80D8-B891C946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C21943-283F-4F9B-8845-D087C67A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08FCF33-B8AD-4D33-8AA2-47F93135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Problem Statement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7C720A-CB03-4AFA-800C-229798CB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Patients may take medicines from several prescribers, with mixed names and incomplete lists.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Clinicians need to spot interactions, duplicate therapy and patient-specific risks.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Missed serious issues can harm patients. Too many minor alerts can hide urgent ones.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171B8E5-1015-4976-B88D-1B0BAD5E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Market Opportunity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A6B378-FA89-4CB6-8E40-3B1A84B6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78638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42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Target users: clinicians and pharmacists reviewing older patients on multiple medicines.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42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Growth path: pilot one review workflow, then assess hospital integration.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42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Alternatives: manual reference lookups and existing medication-checking tools.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42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Market size is not yet quantified; validate demand and adoption through pilot feedback.</a:t>
            </a:r>
          </a:p>
        </p:txBody>
      </p:sp>
    </p:spTree>
    <p:extLst>
      <p:ext uri="{BB962C8B-B14F-4D97-AF65-F5344CB8AC3E}">
        <p14:creationId xmlns:p14="http://schemas.microsoft.com/office/powerpoint/2010/main" val="1690442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F571436-76B5-418C-A6A1-F18627DE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2C4F37-CB24-4437-A5A6-949DC8A6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 Solution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3C5F1A-D44E-4E8F-9BFA-2F9E918F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Solution Overview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088835-1AB6-4634-BB25-C67D3129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Match brand names and misspellings to the supplied drug reference before checking.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Check interactions, duplicate therapy, renal-dose concerns and contraindications.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Show severity, involved medicines, a reference-backed action and match confidence.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Flag uncertain names. Every alert includes limitations; a clinician decides.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ACDE4B-252C-4B5E-8978-B84368EE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82296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Aft>
                <a:spcPts val="8"/>
              </a:spcAft>
              <a:buNone/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Proposed flow label">
            <a:extLst xmlns:a="http://schemas.openxmlformats.org/drawingml/2006/main">
              <a:ext uri="{FF2B5EF4-FFF2-40B4-BE49-F238E27FC236}">
                <a16:creationId xmlns:a16="http://schemas.microsoft.com/office/drawing/2014/main" id="{652DA85C-6604-4CA4-90BC-C2F5E1F8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800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Proposed review flow</a:t>
            </a:r>
          </a:p>
        </p:txBody>
      </p:sp>
      <p:sp>
        <p:nvSpPr>
          <p:cNvPr id="8" name="Flow 1">
            <a:extLst xmlns:a="http://schemas.openxmlformats.org/drawingml/2006/main">
              <a:ext uri="{FF2B5EF4-FFF2-40B4-BE49-F238E27FC236}">
                <a16:creationId xmlns:a16="http://schemas.microsoft.com/office/drawing/2014/main" id="{F599468A-B491-4B9F-B6F1-8A7598EB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Medication list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Patient context</a:t>
            </a:r>
          </a:p>
        </p:txBody>
      </p:sp>
      <p:sp>
        <p:nvSpPr>
          <p:cNvPr id="9" name="Flow 2">
            <a:extLst xmlns:a="http://schemas.openxmlformats.org/drawingml/2006/main">
              <a:ext uri="{FF2B5EF4-FFF2-40B4-BE49-F238E27FC236}">
                <a16:creationId xmlns:a16="http://schemas.microsoft.com/office/drawing/2014/main" id="{EAF682C8-7047-49A9-A4AE-CA517F37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Name matching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Reference checks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06E61-8F03-4BB2-AFB4-EE3A3586CE3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98800" y="42100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1" name="Flow 3">
            <a:extLst xmlns:a="http://schemas.openxmlformats.org/drawingml/2006/main">
              <a:ext uri="{FF2B5EF4-FFF2-40B4-BE49-F238E27FC236}">
                <a16:creationId xmlns:a16="http://schemas.microsoft.com/office/drawing/2014/main" id="{87E9ED53-5E46-4150-9FF5-EC0F1EB0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Prioritized alerts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Clinician review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AA8D8-1580-4D8C-8258-8473660378A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78500" y="42100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99999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21CD8C-82F6-458E-871B-83445805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9AA859-8C10-43CA-B447-9870088B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Steps &amp; Architecture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5B467CD-72B9-4AA2-BEC0-81288024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Technical Implementation</a:t>
            </a: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29C775-075C-4954-9B3F-0C9B28C9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657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1. Load organizer-supplied drug, interaction and synthetic patient tables.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2. Resolve exact names, then cautious fuzzy matches. Leave ambiguity unresolved.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3. Apply reference rules; rank and deduplicate alerts.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4. Measure matching accuracy, serious-issue recall and excess alerts.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E9CE97-0202-4E46-949F-1C7F77C3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Architecture Diagram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1441525-7060-4760-8E37-EA675236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Aft>
                <a:spcPts val="8"/>
              </a:spcAft>
              <a:buNone/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Flow 1">
            <a:extLst xmlns:a="http://schemas.openxmlformats.org/drawingml/2006/main">
              <a:ext uri="{FF2B5EF4-FFF2-40B4-BE49-F238E27FC236}">
                <a16:creationId xmlns:a16="http://schemas.microsoft.com/office/drawing/2014/main" id="{55EE1D1C-DA6A-49C9-B3F8-82F4D6B8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49542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Patient list and context</a:t>
            </a:r>
          </a:p>
        </p:txBody>
      </p:sp>
      <p:sp>
        <p:nvSpPr>
          <p:cNvPr id="9" name="Flow 2">
            <a:extLst xmlns:a="http://schemas.openxmlformats.org/drawingml/2006/main">
              <a:ext uri="{FF2B5EF4-FFF2-40B4-BE49-F238E27FC236}">
                <a16:creationId xmlns:a16="http://schemas.microsoft.com/office/drawing/2014/main" id="{9E3556AC-CEB5-434A-8060-DD92E292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57400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Name resolver + confidence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41D00-87AB-4489-A840-FF85BED5389D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757988" y="19240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1" name="Flow 3">
            <a:extLst xmlns:a="http://schemas.openxmlformats.org/drawingml/2006/main">
              <a:ext uri="{FF2B5EF4-FFF2-40B4-BE49-F238E27FC236}">
                <a16:creationId xmlns:a16="http://schemas.microsoft.com/office/drawing/2014/main" id="{5BFA7CCD-C183-426E-83A5-E44C0150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1937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Rules + supplied references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20709-7ADD-49B9-AEE3-0D71C9CB584E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757988" y="24860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3" name="Flow 4">
            <a:extLst xmlns:a="http://schemas.openxmlformats.org/drawingml/2006/main">
              <a:ext uri="{FF2B5EF4-FFF2-40B4-BE49-F238E27FC236}">
                <a16:creationId xmlns:a16="http://schemas.microsoft.com/office/drawing/2014/main" id="{EC5EFA46-78F9-4762-8530-B2D8B3C3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81350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Alert list for clinician review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EABF2-FC8A-4619-A482-33C6C45B02BD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757988" y="30480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5" name="Build plan">
            <a:extLst xmlns:a="http://schemas.openxmlformats.org/drawingml/2006/main">
              <a:ext uri="{FF2B5EF4-FFF2-40B4-BE49-F238E27FC236}">
                <a16:creationId xmlns:a16="http://schemas.microsoft.com/office/drawing/2014/main" id="{2CD7C4CE-5CDF-44E0-B036-1FBBAA00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07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350" b="0">
                <a:solidFill>
                  <a:srgbClr val="45536A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4553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45536A"/>
                </a:solidFill>
                <a:latin typeface="Calibri"/>
                <a:ea typeface="Calibri"/>
                <a:cs typeface="Calibri"/>
              </a:rPr>
              <a:t>Current demo: Python + Flask, difflib matching, fictional medicines and rules.</a:t>
            </a:r>
          </a:p>
          <a:p xmlns:a="http://schemas.openxmlformats.org/drawingml/2006/main">
            <a:pPr>
              <a:buNone/>
              <a:defRPr sz="1350" b="0">
                <a:solidFill>
                  <a:srgbClr val="4553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45536A"/>
                </a:solidFill>
                <a:latin typeface="Calibri"/>
                <a:ea typeface="Calibri"/>
                <a:cs typeface="Calibri"/>
              </a:rPr>
              <a:t>Final-event plan: Day 1, supplied data and rules; Day 2, evaluation and review UI.</a:t>
            </a:r>
          </a:p>
          <a:p xmlns:a="http://schemas.openxmlformats.org/drawingml/2006/main">
            <a:pPr>
              <a:buNone/>
              <a:defRPr sz="1350" b="0">
                <a:solidFill>
                  <a:srgbClr val="4553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45536A"/>
                </a:solidFill>
                <a:latin typeface="Calibri"/>
                <a:ea typeface="Calibri"/>
                <a:cs typeface="Calibri"/>
              </a:rPr>
              <a:t>Report recall on all 300 seeded near-misses prominently; official assets are pending.</a:t>
            </a:r>
          </a:p>
        </p:txBody>
      </p:sp>
    </p:spTree>
    <p:extLst>
      <p:ext uri="{BB962C8B-B14F-4D97-AF65-F5344CB8AC3E}">
        <p14:creationId xmlns:p14="http://schemas.microsoft.com/office/powerpoint/2010/main" val="1933860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946B3D-C779-4448-84E3-C20190AF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7445EE-D61F-42F2-BDD5-9BF40E3E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Challenges &amp; Mitigation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3BF0B5-D3CD-4E5C-94F2-E35CF059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1: Wrong medicine match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CAE792-3CC1-473D-9BF4-C7D11102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similar names can refer to different medicines.</a:t>
            </a:r>
          </a:p>
          <a:p xmlns:a="http://schemas.openxmlformats.org/drawingml/2006/main">
            <a:pPr algn="l">
              <a:spcAft>
                <a:spcPts val="3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use exact matches first and require confirmation for ambiguity.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F089765-557D-4CB1-8CB7-6D109BCF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7D6566-A32B-4A52-BE3F-01B1F60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2: Alert fatigue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100314-8B7F-485D-969D-1635FF4A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too many low-severity warnings can distract the clinician.</a:t>
            </a:r>
          </a:p>
          <a:p xmlns:a="http://schemas.openxmlformats.org/drawingml/2006/main">
            <a:pPr algn="l">
              <a:spcAft>
                <a:spcPts val="3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rank by severity, merge duplicates and measure excess alerts.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F6A8062-5B7A-44A1-ABC7-BC691DA1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9684AD-BDED-48DE-9E88-7F1A0885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3: Incomplete clinical context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9E74C9C-16DC-4834-87E5-FA8331BA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missing medicines or patient details limit the checks.</a:t>
            </a:r>
          </a:p>
          <a:p xmlns:a="http://schemas.openxmlformats.org/drawingml/2006/main">
            <a:pPr algn="l">
              <a:spcAft>
                <a:spcPts val="3"/>
              </a:spcAft>
              <a:buNone/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show missing context and limitations. Never declare the list safe.</a:t>
            </a:r>
          </a:p>
        </p:txBody>
      </p:sp>
    </p:spTree>
    <p:extLst>
      <p:ext uri="{BB962C8B-B14F-4D97-AF65-F5344CB8AC3E}">
        <p14:creationId xmlns:p14="http://schemas.microsoft.com/office/powerpoint/2010/main" val="1002175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664C1D-35DF-48DA-8634-B84ABFB8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BA1C6F-F192-4DA2-AA13-9265F5B1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Unique Selling Proposition (USP)</a:t>
            </a:r>
            <a:endParaRPr sz="4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825B521-F3E5-48D0-8B67-6246A965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A2AE660-96CC-40F2-BE71-9DE59163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AA3DED7-D80E-4215-8C48-4C20BA1B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Resolve names first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Show match confidence before applying safety rules.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89C15D6-F9E4-419C-ADC2-46E8E6D1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5C0E488-BF09-4482-90C1-FEBA11F0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2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4DE60D-4549-466B-AC19-FB2EB5F2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Prioritize useful alerts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Balance serious-issue detection against unnecessary warnings.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6909F6B-795F-4F29-970B-241EE95B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F78D3A-0D79-4E56-9217-3FE31286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3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F7DD0-9C12-4D48-8CDB-CF4B53BE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Explain each concern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Show supporting rules, limitations and a clinician action.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60178F4-DF79-4B78-A08C-0AF5A64F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Competitive Advantage Summary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17FDE2E-A7B1-41E4-BA65-DA05F0A3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Compared with a simple exact-name lookup, test whether cautious matching finds more valid cases.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Make uncertainty visible and keep every recommendation tied to the supplied references.</a:t>
            </a:r>
          </a:p>
        </p:txBody>
      </p:sp>
    </p:spTree>
    <p:extLst>
      <p:ext uri="{BB962C8B-B14F-4D97-AF65-F5344CB8AC3E}">
        <p14:creationId xmlns:p14="http://schemas.microsoft.com/office/powerpoint/2010/main" val="548700880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Shape 0">
            <a:extLst>
              <a:ext uri="{FF2B5EF4-FFF2-40B4-BE49-F238E27FC236}">
                <ns2:creationId id="{0AE27131-23FE-4272-85AC-B6335E8F9D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ns2:creationId id="{4BB5365C-A612-4B60-B0AD-BEF70CA4E531}"/>
              </a:ext>
            </a:extLst>
          </p:cNvPr>
          <p:cNvSpPr>
            <a:spLocks noGrp="1"/>
          </p:cNvSpPr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&amp; POC Video</a:t>
            </a:r>
            <a:endParaRPr sz="4000"/>
          </a:p>
        </p:txBody>
      </p:sp>
      <p:sp>
        <p:nvSpPr>
          <p:cNvPr id="4" name="Text 2">
            <a:extLst>
              <a:ext uri="{FF2B5EF4-FFF2-40B4-BE49-F238E27FC236}">
                <ns2:creationId id="{AA3EA468-16C6-44E6-863A-8331FBF7C74A}"/>
              </a:ext>
            </a:extLst>
            <a:hlinkClick r:id="rIdDemoLink"/>
          </p:cNvPr>
          <p:cNvSpPr>
            <a:spLocks noGrp="1"/>
          </p:cNvSpPr>
          <p:nvPr/>
        </p:nvSpPr>
        <p:spPr>
          <a:xfrm>
            <a:off x="457200" y="942975"/>
            <a:ext cx="8229600" cy="285750"/>
          </a:xfrm>
          <a:prstGeom prst="rect">
            <a:avLst/>
          </a:prstGeom>
          <a:noFill/>
        </p:spPr>
        <p:txBody>
          <a:bodyPr wrap="square" lIns="76200" tIns="76200" rIns="76200" bIns="76200" anchor="t">
            <a:noAutofit/>
          </a:bodyPr>
          <a:lstStyle>
            <a:defPPr algn="l">
              <a:defRPr sz="1800" b="1">
                <a:solidFill>
                  <a:srgbClr val="2B4E87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spcAft>
                <a:spcPts val="8"/>
              </a:spcAft>
              <a:buNone/>
              <a:defRPr sz="1800" b="1">
                <a:solidFill>
                  <a:srgbClr val="2B4E8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B4E87"/>
                </a:solidFill>
                <a:latin typeface="Calibri"/>
                <a:ea typeface="Calibri"/>
                <a:cs typeface="Calibri"/>
                <a:hlinkClick r:id="rIdDemoLink"/>
              </a:rPr>
              <a:t>MedSafe | Watch the 54-second captioned demo</a:t>
            </a:r>
          </a:p>
        </p:txBody>
      </p:sp>
      <p:sp>
        <p:nvSpPr>
          <p:cNvPr id="5" name="Shape 3">
            <a:extLst>
              <a:ext uri="{FF2B5EF4-FFF2-40B4-BE49-F238E27FC236}">
                <ns2:creationId id="{63D03069-4724-48F1-82B8-7381183B3362}"/>
              </a:ext>
            </a:extLst>
          </p:cNvPr>
          <p:cNvSpPr>
            <a:spLocks noGrp="1"/>
          </p:cNvSpPr>
          <p:nvPr/>
        </p:nvSpPr>
        <p:spPr>
          <a:xfrm>
            <a:off x="1371600" y="1463040"/>
            <a:ext cx="6400800" cy="310896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ns2:creationId id="{D086E539-A390-49F4-9EC3-36C5D101EF37}"/>
              </a:ext>
            </a:extLst>
          </p:cNvPr>
          <p:cNvSpPr>
            <a:spLocks noGrp="1"/>
          </p:cNvSpPr>
          <p:nvPr/>
        </p:nvSpPr>
        <p:spPr>
          <a:xfrm>
            <a:off x="1514475" y="1590675"/>
            <a:ext cx="6115050" cy="2600325"/>
          </a:xfrm>
          <a:prstGeom prst="rect">
            <a:avLst/>
          </a:prstGeom>
          <a:noFill/>
        </p:spPr>
        <p:txBody>
          <a:bodyPr wrap="square" lIns="76200" tIns="76200" rIns="76200" bIns="76200" anchor="t">
            <a:noAutofit/>
          </a:bodyPr>
          <a:lstStyle>
            <a:def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spcAft>
                <a:spcPts val="12"/>
              </a:spcAft>
              <a:buNone/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Text 5">
            <a:extLst>
              <a:ext uri="{FF2B5EF4-FFF2-40B4-BE49-F238E27FC236}">
                <ns2:creationId id="{3BFEB500-C2D2-4260-84FF-D3E48C0B2B2A}"/>
              </a:ext>
            </a:extLst>
            <a:hlinkClick r:id="rIdDemoLink"/>
          </p:cNvPr>
          <p:cNvSpPr>
            <a:spLocks noGrp="1"/>
          </p:cNvSpPr>
          <p:nvPr/>
        </p:nvSpPr>
        <p:spPr>
          <a:xfrm>
            <a:off x="457200" y="4495800"/>
            <a:ext cx="8229600" cy="238125"/>
          </a:xfrm>
          <a:prstGeom prst="rect">
            <a:avLst/>
          </a:prstGeom>
          <a:noFill/>
        </p:spPr>
        <p:txBody>
          <a:bodyPr wrap="square" lIns="76200" tIns="76200" rIns="76200" bIns="76200" anchor="t">
            <a:noAutofit/>
          </a:bodyPr>
          <a:lstStyle>
            <a:defPPr algn="ctr">
              <a:defRPr sz="1050" b="0" u="sng">
                <a:solidFill>
                  <a:srgbClr val="0563C1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sz="1275" b="0" u="sng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spcAft>
                <a:spcPts val="8"/>
              </a:spcAft>
              <a:buNone/>
              <a:defRPr sz="1050" b="0" u="sng">
                <a:solidFill>
                  <a:srgbClr val="0563C1"/>
                </a:solidFill>
                <a:latin typeface="Calibri"/>
                <a:ea typeface="Calibri"/>
                <a:cs typeface="Calibri"/>
              </a:defRPr>
            </a:pPr>
            <a:r>
              <a:rPr sz="1050" b="0" u="sng">
                <a:solidFill>
                  <a:srgbClr val="0563C1"/>
                </a:solidFill>
                <a:latin typeface="Calibri"/>
                <a:ea typeface="Calibri"/>
                <a:cs typeface="Calibri"/>
                <a:hlinkClick r:id="rIdDemoLink"/>
              </a:rPr>
              <a:t>https://drive.google.com/file/d/18q2uwPBda-AzrffcW6c4JY9j5vB-349o/view?usp=drivesdk</a:t>
            </a:r>
          </a:p>
        </p:txBody>
      </p:sp>
      <p:pic>
        <p:nvPicPr>
          <p:cNvPr id="10" name="">
            <a:extLst>
              <a:ext uri="{FF2B5EF4-FFF2-40B4-BE49-F238E27FC236}">
                <ns2:creationId id="{89E1FA86-CE35-46BF-8579-25101A74A208}"/>
              </a:ext>
            </a:extLst>
            <a:hlinkClick r:id="rIdDemoLink"/>
          </p:cNvPr>
          <p:cNvPicPr>
            <a:picLocks noChangeAspect="1"/>
          </p:cNvPicPr>
          <p:nvPr/>
        </p:nvPicPr>
        <p:blipFill>
          <a:blip r:embed="Ra23345aa351d490b"/>
          <a:stretch/>
        </p:blipFill>
        <p:spPr>
          <a:xfrm>
            <a:off x="2057400" y="1295400"/>
            <a:ext cx="5029200" cy="3143250"/>
          </a:xfrm>
          <a:prstGeom prst="rect">
            <a:avLst/>
          </a:prstGeom>
        </p:spPr>
      </p:pic>
    </p:spTree>
    <p:extLst>
      <p:ext uri="{BB962C8B-B14F-4D97-AF65-F5344CB8AC3E}">
        <ns4:creationId val="8671289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2026-10-17T17:28:53.6730000Z</dcterms:created>
  <dcterms:modified xsi:type="dcterms:W3CDTF">2026-10-17T17:28:53.6740000Z</dcterms:modified>
</coreProperties>
</file>