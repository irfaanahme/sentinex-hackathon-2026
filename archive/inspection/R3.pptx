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-1224" y="-4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7410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Statement ID and Title must match the Problem Statement Pack exactly. Choose one problem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="" xmlns:a16="http://schemas.microsoft.com/office/drawing/2014/main" id="{4072DDE4-DDA2-4ED1-A26D-8B54F6AAB746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960120" y="256032"/>
            <a:ext cx="7726680" cy="41148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2200" b="1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marL="0" indent="0" algn="l">
              <a:buNone/>
            </a:pPr>
            <a:endParaRPr sz="2200"/>
          </a:p>
        </p:txBody>
      </p:sp>
      <p:sp>
        <p:nvSpPr>
          <p:cNvPr id="3" name="Text 0">
            <a:extLst>
              <a:ext uri="{FF2B5EF4-FFF2-40B4-BE49-F238E27FC236}">
                <a16:creationId xmlns="" xmlns:a16="http://schemas.microsoft.com/office/drawing/2014/main" id="{D9D50099-CEEF-49D0-819A-DC0F57CCB2E9}"/>
              </a:ext>
            </a:extLst>
          </p:cNvPr>
          <p:cNvSpPr>
            <a:spLocks noGrp="1"/>
          </p:cNvSpPr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spc="200">
                <a:solidFill>
                  <a:schemeClr val="accent4"/>
                </a:solidFill>
              </a:rPr>
              <a:t>MEGA HACKATHON 2026  ·  IDEA SUBMISSION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="" xmlns:a16="http://schemas.microsoft.com/office/drawing/2014/main" id="{422D4C85-C520-420C-9AB9-4838678458A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chemeClr val="accent4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able form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swer prompt 10">
            <a:extLst>
              <a:ext uri="{FF2B5EF4-FFF2-40B4-BE49-F238E27FC236}">
                <a16:creationId xmlns="" xmlns:a16="http://schemas.microsoft.com/office/drawing/2014/main" id="{468A4D8D-9772-46AF-8850-FAE1B50063C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29200" y="777240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00">
                <a:solidFill>
                  <a:srgbClr val="64748B"/>
                </a:solidFill>
              </a:rPr>
              <a:t>Your team name</a:t>
            </a:r>
            <a:endParaRPr sz="1000"/>
          </a:p>
        </p:txBody>
      </p:sp>
      <p:sp>
        <p:nvSpPr>
          <p:cNvPr id="12" name="Answer prompt 11">
            <a:extLst>
              <a:ext uri="{FF2B5EF4-FFF2-40B4-BE49-F238E27FC236}">
                <a16:creationId xmlns="" xmlns:a16="http://schemas.microsoft.com/office/drawing/2014/main" id="{DC9FEB52-AF7C-4E81-9314-145EE3CCF7C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00" y="1472184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00">
                <a:solidFill>
                  <a:srgbClr val="64748B"/>
                </a:solidFill>
              </a:rPr>
              <a:t>One of R1–R5 or H1–H5</a:t>
            </a:r>
            <a:endParaRPr sz="1000"/>
          </a:p>
        </p:txBody>
      </p:sp>
      <p:sp>
        <p:nvSpPr>
          <p:cNvPr id="14" name="Answer prompt 12">
            <a:extLst>
              <a:ext uri="{FF2B5EF4-FFF2-40B4-BE49-F238E27FC236}">
                <a16:creationId xmlns="" xmlns:a16="http://schemas.microsoft.com/office/drawing/2014/main" id="{5A57B447-A5CC-427C-95B4-76A23D81FFF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00" y="2167128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00">
                <a:solidFill>
                  <a:srgbClr val="64748B"/>
                </a:solidFill>
              </a:rPr>
              <a:t>e.g. R1 · The Phantom Stock-Out Detector</a:t>
            </a:r>
            <a:endParaRPr sz="1000"/>
          </a:p>
        </p:txBody>
      </p:sp>
      <p:sp>
        <p:nvSpPr>
          <p:cNvPr id="16" name="Answer prompt 13">
            <a:extLst>
              <a:ext uri="{FF2B5EF4-FFF2-40B4-BE49-F238E27FC236}">
                <a16:creationId xmlns="" xmlns:a16="http://schemas.microsoft.com/office/drawing/2014/main" id="{BBFFC3BF-45E3-476B-887A-07A69B6A067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029200" y="2862072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00">
                <a:solidFill>
                  <a:srgbClr val="64748B"/>
                </a:solidFill>
              </a:rPr>
              <a:t>Retail / Healthcare</a:t>
            </a:r>
            <a:endParaRPr sz="1000"/>
          </a:p>
        </p:txBody>
      </p:sp>
      <p:sp>
        <p:nvSpPr>
          <p:cNvPr id="18" name="Answer prompt 14">
            <a:extLst>
              <a:ext uri="{FF2B5EF4-FFF2-40B4-BE49-F238E27FC236}">
                <a16:creationId xmlns="" xmlns:a16="http://schemas.microsoft.com/office/drawing/2014/main" id="{C6F0D6CB-7E57-45C6-9892-51B13A9EDC6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29200" y="3557016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00">
                <a:solidFill>
                  <a:srgbClr val="64748B"/>
                </a:solidFill>
              </a:rPr>
              <a:t>Full college name(s), city</a:t>
            </a:r>
            <a:endParaRPr sz="1000"/>
          </a:p>
        </p:txBody>
      </p:sp>
      <p:sp>
        <p:nvSpPr>
          <p:cNvPr id="20" name="Answer prompt 15">
            <a:extLst>
              <a:ext uri="{FF2B5EF4-FFF2-40B4-BE49-F238E27FC236}">
                <a16:creationId xmlns="" xmlns:a16="http://schemas.microsoft.com/office/drawing/2014/main" id="{7CE061C3-E02C-4C04-8E65-082BAA828E7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00" y="4251960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00">
                <a:solidFill>
                  <a:srgbClr val="64748B"/>
                </a:solidFill>
              </a:rPr>
              <a:t>Name · Mobile · Email</a:t>
            </a:r>
            <a:endParaRPr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able form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="" xmlns:a16="http://schemas.microsoft.com/office/drawing/2014/main" id="{D9D50099-CEEF-49D0-819A-DC0F57CCB2E9}"/>
              </a:ext>
            </a:extLst>
          </p:cNvPr>
          <p:cNvSpPr>
            <a:spLocks noGrp="1"/>
          </p:cNvSpPr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spc="200">
                <a:solidFill>
                  <a:schemeClr val="accent4"/>
                </a:solidFill>
              </a:rPr>
              <a:t>MEGA HACKATHON 2026  ·  IDEA SUBMISSION</a:t>
            </a:r>
            <a:endParaRPr sz="800"/>
          </a:p>
        </p:txBody>
      </p:sp>
      <p:sp>
        <p:nvSpPr>
          <p:cNvPr id="7" name="Answer prompt 10">
            <a:extLst>
              <a:ext uri="{FF2B5EF4-FFF2-40B4-BE49-F238E27FC236}">
                <a16:creationId xmlns="" xmlns:a16="http://schemas.microsoft.com/office/drawing/2014/main" id="{295D5656-D4E1-428A-9E6F-3002D86CC75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1234440"/>
            <a:ext cx="3977640" cy="1645920"/>
          </a:xfrm>
          <a:prstGeom prst="roundRect">
            <a:avLst>
              <a:gd name="adj" fmla="val 3333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Who is the end user (store manager, nurse, ASHA worker …), what goes wrong today, and what it costs.</a:t>
            </a:r>
            <a:endParaRPr sz="1050"/>
          </a:p>
        </p:txBody>
      </p:sp>
      <p:sp>
        <p:nvSpPr>
          <p:cNvPr id="9" name="Answer prompt 11">
            <a:extLst>
              <a:ext uri="{FF2B5EF4-FFF2-40B4-BE49-F238E27FC236}">
                <a16:creationId xmlns="" xmlns:a16="http://schemas.microsoft.com/office/drawing/2014/main" id="{B6F82415-AA8C-47B3-9AFC-A9C6AF5F924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7200" y="329184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e.g. “Precision@20 — a manager can only check 20 shelves a day.” What does a wrong answer cost?</a:t>
            </a:r>
            <a:endParaRPr sz="1050"/>
          </a:p>
        </p:txBody>
      </p:sp>
      <p:sp>
        <p:nvSpPr>
          <p:cNvPr id="11" name="Answer prompt 12">
            <a:extLst>
              <a:ext uri="{FF2B5EF4-FFF2-40B4-BE49-F238E27FC236}">
                <a16:creationId xmlns="" xmlns:a16="http://schemas.microsoft.com/office/drawing/2014/main" id="{02F7E347-9640-45DC-86AF-0E1E9EC3E98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709160" y="1234440"/>
            <a:ext cx="3977640" cy="3383280"/>
          </a:xfrm>
          <a:prstGeom prst="roundRect">
            <a:avLst>
              <a:gd name="adj" fmla="val 1622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• Assumption — why it is reasonable</a:t>
            </a:r>
            <a:endParaRPr sz="1050"/>
          </a:p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• </a:t>
            </a:r>
            <a:endParaRPr sz="1050"/>
          </a:p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• </a:t>
            </a:r>
            <a:endParaRPr sz="1050"/>
          </a:p>
          <a:p>
            <a:pPr marL="0" indent="0" algn="l">
              <a:buNone/>
            </a:pPr>
            <a:endParaRPr sz="1050"/>
          </a:p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Stated assumptions are rewarded, not penalised.</a:t>
            </a:r>
            <a:endParaRPr sz="105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able form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="" xmlns:a16="http://schemas.microsoft.com/office/drawing/2014/main" id="{D9D50099-CEEF-49D0-819A-DC0F57CCB2E9}"/>
              </a:ext>
            </a:extLst>
          </p:cNvPr>
          <p:cNvSpPr>
            <a:spLocks noGrp="1"/>
          </p:cNvSpPr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spc="200">
                <a:solidFill>
                  <a:schemeClr val="accent4"/>
                </a:solidFill>
              </a:rPr>
              <a:t>MEGA HACKATHON 2026  ·  IDEA SUBMISSION</a:t>
            </a:r>
            <a:endParaRPr sz="800"/>
          </a:p>
        </p:txBody>
      </p:sp>
      <p:sp>
        <p:nvSpPr>
          <p:cNvPr id="7" name="Answer prompt 10">
            <a:extLst>
              <a:ext uri="{FF2B5EF4-FFF2-40B4-BE49-F238E27FC236}">
                <a16:creationId xmlns="" xmlns:a16="http://schemas.microsoft.com/office/drawing/2014/main" id="{8C4D6C36-C1DC-4B77-B7C5-437924CFB43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12344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We will build ___ that helps ___ to ___.</a:t>
            </a:r>
            <a:endParaRPr sz="1050"/>
          </a:p>
        </p:txBody>
      </p:sp>
      <p:sp>
        <p:nvSpPr>
          <p:cNvPr id="9" name="Answer prompt 11">
            <a:extLst>
              <a:ext uri="{FF2B5EF4-FFF2-40B4-BE49-F238E27FC236}">
                <a16:creationId xmlns="" xmlns:a16="http://schemas.microsoft.com/office/drawing/2014/main" id="{B2D45F87-9B1E-45E0-BACF-E3F5754DE1D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7200" y="2103120"/>
            <a:ext cx="3977640" cy="2514600"/>
          </a:xfrm>
          <a:prstGeom prst="roundRect">
            <a:avLst>
              <a:gd name="adj" fmla="val 2182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Data → signals / features you will use → rules or model → output the user sees. You may add a simple flow diagram, but explain it in text too.</a:t>
            </a:r>
            <a:endParaRPr sz="1050"/>
          </a:p>
        </p:txBody>
      </p:sp>
      <p:sp>
        <p:nvSpPr>
          <p:cNvPr id="11" name="Answer prompt 12">
            <a:extLst>
              <a:ext uri="{FF2B5EF4-FFF2-40B4-BE49-F238E27FC236}">
                <a16:creationId xmlns="" xmlns:a16="http://schemas.microsoft.com/office/drawing/2014/main" id="{E9CD665A-1E24-43DD-BCD2-A2F74D54EB6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709160" y="2103120"/>
            <a:ext cx="3977640" cy="1051560"/>
          </a:xfrm>
          <a:prstGeom prst="roundRect">
            <a:avLst>
              <a:gd name="adj" fmla="val 5217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e.g. rules + gradient boosting, embeddings + small LLM, Python / pandas / Streamlit. Include your offline fallback.</a:t>
            </a:r>
            <a:endParaRPr sz="1050"/>
          </a:p>
        </p:txBody>
      </p:sp>
      <p:sp>
        <p:nvSpPr>
          <p:cNvPr id="13" name="Answer prompt 13">
            <a:extLst>
              <a:ext uri="{FF2B5EF4-FFF2-40B4-BE49-F238E27FC236}">
                <a16:creationId xmlns="" xmlns:a16="http://schemas.microsoft.com/office/drawing/2014/main" id="{8D16F5E1-34AD-413B-A663-AA1EE076818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09160" y="3566160"/>
            <a:ext cx="3977640" cy="1051560"/>
          </a:xfrm>
          <a:prstGeom prst="roundRect">
            <a:avLst>
              <a:gd name="adj" fmla="val 5217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The baseline does the simplest thing. What will you add, and why should it score better?</a:t>
            </a:r>
            <a:endParaRPr sz="10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able form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="" xmlns:a16="http://schemas.microsoft.com/office/drawing/2014/main" id="{D9D50099-CEEF-49D0-819A-DC0F57CCB2E9}"/>
              </a:ext>
            </a:extLst>
          </p:cNvPr>
          <p:cNvSpPr>
            <a:spLocks noGrp="1"/>
          </p:cNvSpPr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spc="200">
                <a:solidFill>
                  <a:schemeClr val="accent4"/>
                </a:solidFill>
              </a:rPr>
              <a:t>MEGA HACKATHON 2026  ·  IDEA SUBMISSION</a:t>
            </a:r>
            <a:endParaRPr sz="800"/>
          </a:p>
        </p:txBody>
      </p:sp>
      <p:sp>
        <p:nvSpPr>
          <p:cNvPr id="7" name="Answer prompt 10">
            <a:extLst>
              <a:ext uri="{FF2B5EF4-FFF2-40B4-BE49-F238E27FC236}">
                <a16:creationId xmlns="" xmlns:a16="http://schemas.microsoft.com/office/drawing/2014/main" id="{11CFDF6D-764A-41F6-AE3E-B2D01C63948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1234440"/>
            <a:ext cx="3977640" cy="3383280"/>
          </a:xfrm>
          <a:prstGeom prst="roundRect">
            <a:avLst>
              <a:gd name="adj" fmla="val 1622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What exactly do they see (ranked list, alert, care plan, answer with citation)? How do you explain each decision so they trust it?</a:t>
            </a:r>
            <a:endParaRPr sz="1050"/>
          </a:p>
        </p:txBody>
      </p:sp>
      <p:sp>
        <p:nvSpPr>
          <p:cNvPr id="9" name="Answer prompt 11">
            <a:extLst>
              <a:ext uri="{FF2B5EF4-FFF2-40B4-BE49-F238E27FC236}">
                <a16:creationId xmlns="" xmlns:a16="http://schemas.microsoft.com/office/drawing/2014/main" id="{69FD89B9-3D1F-4D01-BCBF-F55BD5FE9637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709160" y="1234440"/>
            <a:ext cx="3977640" cy="3383280"/>
          </a:xfrm>
          <a:prstGeom prst="roundRect">
            <a:avLst>
              <a:gd name="adj" fmla="val 1622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• When will your system refuse, abstain or escalate to a human?</a:t>
            </a:r>
            <a:endParaRPr sz="1050"/>
          </a:p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• Hard-coded safety rules (mandatory for Healthcare)</a:t>
            </a:r>
            <a:endParaRPr sz="1050"/>
          </a:p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• How you will check for bias against any group</a:t>
            </a:r>
            <a:endParaRPr sz="1050"/>
          </a:p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• What your solution cannot do</a:t>
            </a:r>
            <a:endParaRPr sz="105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able form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="" xmlns:a16="http://schemas.microsoft.com/office/drawing/2014/main" id="{D9D50099-CEEF-49D0-819A-DC0F57CCB2E9}"/>
              </a:ext>
            </a:extLst>
          </p:cNvPr>
          <p:cNvSpPr>
            <a:spLocks noGrp="1"/>
          </p:cNvSpPr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spc="200">
                <a:solidFill>
                  <a:schemeClr val="accent4"/>
                </a:solidFill>
              </a:rPr>
              <a:t>MEGA HACKATHON 2026  ·  IDEA SUBMISSION</a:t>
            </a:r>
            <a:endParaRPr sz="800"/>
          </a:p>
        </p:txBody>
      </p:sp>
      <p:sp>
        <p:nvSpPr>
          <p:cNvPr id="7" name="Answer prompt 10">
            <a:extLst>
              <a:ext uri="{FF2B5EF4-FFF2-40B4-BE49-F238E27FC236}">
                <a16:creationId xmlns="" xmlns:a16="http://schemas.microsoft.com/office/drawing/2014/main" id="{C0C46B53-4B9B-4E82-B7FD-45ECEA2DE63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1234440"/>
            <a:ext cx="8229600" cy="3383280"/>
          </a:xfrm>
          <a:prstGeom prst="roundRect">
            <a:avLst>
              <a:gd name="adj" fmla="val 1622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Must-have (from the desired outputs in your problem statement):</a:t>
            </a:r>
            <a:endParaRPr sz="1050"/>
          </a:p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• </a:t>
            </a:r>
            <a:endParaRPr sz="1050"/>
          </a:p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• </a:t>
            </a:r>
            <a:endParaRPr sz="1050"/>
          </a:p>
          <a:p>
            <a:pPr marL="0" indent="0" algn="l">
              <a:buNone/>
            </a:pPr>
            <a:endParaRPr sz="1050"/>
          </a:p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Stretch goal (if time permits):</a:t>
            </a:r>
            <a:endParaRPr sz="1050"/>
          </a:p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• </a:t>
            </a:r>
            <a:endParaRPr sz="105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able form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nswer prompt 10">
            <a:extLst>
              <a:ext uri="{FF2B5EF4-FFF2-40B4-BE49-F238E27FC236}">
                <a16:creationId xmlns="" xmlns:a16="http://schemas.microsoft.com/office/drawing/2014/main" id="{5C307A53-EE06-4222-B1AB-B5F317FA439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486400" y="1691640"/>
            <a:ext cx="3200400" cy="960120"/>
          </a:xfrm>
          <a:prstGeom prst="roundRect">
            <a:avLst>
              <a:gd name="adj" fmla="val 5714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Tool and what for — or “None”.</a:t>
            </a:r>
            <a:endParaRPr sz="1050"/>
          </a:p>
        </p:txBody>
      </p:sp>
      <p:sp>
        <p:nvSpPr>
          <p:cNvPr id="10" name="Answer prompt 11">
            <a:extLst>
              <a:ext uri="{FF2B5EF4-FFF2-40B4-BE49-F238E27FC236}">
                <a16:creationId xmlns="" xmlns:a16="http://schemas.microsoft.com/office/drawing/2014/main" id="{FB65BA17-370C-4ACA-96B2-16D0C458111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486400" y="306324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Name · Date</a:t>
            </a:r>
            <a:endParaRPr sz="10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="" xmlns:a16="http://schemas.microsoft.com/office/drawing/2014/main" id="{73C99B64-99F1-4B6F-8F8E-EF18A83F3F1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chemeClr val="accent4"/>
                </a:solidFill>
              </a:defRPr>
            </a:lvl1pPr>
          </a:lstStyle>
          <a:p>
            <a:pPr algn="r">
              <a:buNone/>
              <a:defRPr>
                <a:solidFill>
                  <a:srgbClr val="6D8192"/>
                </a:solidFill>
              </a:defRPr>
            </a:pPr>
            <a:fld id="{F7021451-1387-4CA6-816F-3879F97B5CBC}" type="slidenum">
              <a:rPr b="0">
                <a:solidFill>
                  <a:srgbClr val="6D8192"/>
                </a:solidFill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200000001" r:id="rId4"/>
    <p:sldLayoutId id="2200000002" r:id="rId5"/>
    <p:sldLayoutId id="2200000003" r:id="rId6"/>
    <p:sldLayoutId id="2200000004" r:id="rId7"/>
    <p:sldLayoutId id="2200000005" r:id="rId8"/>
    <p:sldLayoutId id="2200000006" r:id="rId9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apdti.in/" TargetMode="External"/><Relationship Id="rId5" Type="http://schemas.openxmlformats.org/officeDocument/2006/relationships/hyperlink" Target="http://www.talentap.in/" TargetMode="External"/><Relationship Id="rId4" Type="http://schemas.openxmlformats.org/officeDocument/2006/relationships/hyperlink" Target="http://www.innosmart.in/" TargetMode="Externa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www.apdti.in/" TargetMode="External"/><Relationship Id="rId5" Type="http://schemas.openxmlformats.org/officeDocument/2006/relationships/hyperlink" Target="http://www.talentap.in/" TargetMode="External"/><Relationship Id="rId4" Type="http://schemas.openxmlformats.org/officeDocument/2006/relationships/hyperlink" Target="http://www.innosmart.in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ww.apdti.in/" TargetMode="External"/><Relationship Id="rId5" Type="http://schemas.openxmlformats.org/officeDocument/2006/relationships/hyperlink" Target="http://www.talentap.in/" TargetMode="External"/><Relationship Id="rId4" Type="http://schemas.openxmlformats.org/officeDocument/2006/relationships/hyperlink" Target="http://www.innosmart.in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apdti.in/" TargetMode="External"/><Relationship Id="rId5" Type="http://schemas.openxmlformats.org/officeDocument/2006/relationships/hyperlink" Target="http://www.talentap.in/" TargetMode="External"/><Relationship Id="rId4" Type="http://schemas.openxmlformats.org/officeDocument/2006/relationships/hyperlink" Target="http://www.innosmart.in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apdti.in/" TargetMode="External"/><Relationship Id="rId5" Type="http://schemas.openxmlformats.org/officeDocument/2006/relationships/hyperlink" Target="http://www.talentap.in/" TargetMode="External"/><Relationship Id="rId4" Type="http://schemas.openxmlformats.org/officeDocument/2006/relationships/hyperlink" Target="http://www.innosmart.in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://www.apdti.i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://www.talentap.in/" TargetMode="External"/><Relationship Id="rId5" Type="http://schemas.openxmlformats.org/officeDocument/2006/relationships/hyperlink" Target="http://www.innosmart.in/" TargetMode="External"/><Relationship Id="rId4" Type="http://schemas.openxmlformats.org/officeDocument/2006/relationships/hyperlink" Target="mailto:secretariat@talentap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="" xmlns:a16="http://schemas.microsoft.com/office/drawing/2014/main" id="{E041446E-F0C4-42A4-AA2D-22424A1C451C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4297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solidFill>
                  <a:srgbClr val="172B49"/>
                </a:solidFill>
              </a:defRPr>
            </a:pPr>
            <a:r>
              <a:rPr sz="2800" b="1">
                <a:solidFill>
                  <a:srgbClr val="172B49"/>
                </a:solidFill>
                <a:latin typeface="Arial"/>
                <a:ea typeface="Arial"/>
                <a:cs typeface="Arial"/>
              </a:rPr>
              <a:t>Mega Hackathon 2026</a:t>
            </a:r>
            <a:endParaRPr sz="2800"/>
          </a:p>
        </p:txBody>
      </p:sp>
      <p:sp>
        <p:nvSpPr>
          <p:cNvPr id="4" name="Text 2">
            <a:extLst>
              <a:ext uri="{FF2B5EF4-FFF2-40B4-BE49-F238E27FC236}">
                <a16:creationId xmlns="" xmlns:a16="http://schemas.microsoft.com/office/drawing/2014/main" id="{333C7731-7197-45EF-A16C-A2E5BB493BD7}"/>
              </a:ext>
            </a:extLst>
          </p:cNvPr>
          <p:cNvSpPr>
            <a:spLocks noGrp="1"/>
          </p:cNvSpPr>
          <p:nvPr/>
        </p:nvSpPr>
        <p:spPr>
          <a:xfrm>
            <a:off x="457200" y="15087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solidFill>
                  <a:srgbClr val="172B49"/>
                </a:solidFill>
              </a:defRPr>
            </a:pPr>
            <a:r>
              <a:rPr sz="1500">
                <a:solidFill>
                  <a:srgbClr val="172B49"/>
                </a:solidFill>
              </a:rPr>
              <a:t>AI for Real-World Impact · Idea Submission</a:t>
            </a:r>
            <a:endParaRPr sz="1500"/>
          </a:p>
        </p:txBody>
      </p:sp>
      <p:sp>
        <p:nvSpPr>
          <p:cNvPr id="5" name="Track 0">
            <a:extLst>
              <a:ext uri="{FF2B5EF4-FFF2-40B4-BE49-F238E27FC236}">
                <a16:creationId xmlns="" xmlns:a16="http://schemas.microsoft.com/office/drawing/2014/main" id="{00B7ACEF-AC74-49E0-B37F-1063821B7F03}"/>
              </a:ext>
            </a:extLst>
          </p:cNvPr>
          <p:cNvSpPr>
            <a:spLocks noGrp="1"/>
          </p:cNvSpPr>
          <p:nvPr/>
        </p:nvSpPr>
        <p:spPr>
          <a:xfrm>
            <a:off x="457200" y="2194560"/>
            <a:ext cx="1062917" cy="329184"/>
          </a:xfrm>
          <a:prstGeom prst="roundRect">
            <a:avLst>
              <a:gd name="adj" fmla="val 41667"/>
            </a:avLst>
          </a:prstGeom>
          <a:solidFill>
            <a:srgbClr val="E7F6F3"/>
          </a:solidFill>
          <a:ln w="9525">
            <a:solidFill>
              <a:srgbClr val="7DBFB5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solidFill>
                  <a:srgbClr val="087D78"/>
                </a:solidFill>
              </a:defRPr>
            </a:pPr>
            <a:r>
              <a:rPr sz="1000" b="1">
                <a:solidFill>
                  <a:srgbClr val="087D78"/>
                </a:solidFill>
              </a:rPr>
              <a:t>Retail  R1–R5</a:t>
            </a:r>
            <a:endParaRPr sz="1000"/>
          </a:p>
        </p:txBody>
      </p:sp>
      <p:sp>
        <p:nvSpPr>
          <p:cNvPr id="6" name="Track 1">
            <a:extLst>
              <a:ext uri="{FF2B5EF4-FFF2-40B4-BE49-F238E27FC236}">
                <a16:creationId xmlns="" xmlns:a16="http://schemas.microsoft.com/office/drawing/2014/main" id="{59110DC7-B3C4-457C-A25F-D643F0ADF970}"/>
              </a:ext>
            </a:extLst>
          </p:cNvPr>
          <p:cNvSpPr>
            <a:spLocks noGrp="1"/>
          </p:cNvSpPr>
          <p:nvPr/>
        </p:nvSpPr>
        <p:spPr>
          <a:xfrm>
            <a:off x="1779638" y="2194560"/>
            <a:ext cx="1188429" cy="329184"/>
          </a:xfrm>
          <a:prstGeom prst="roundRect">
            <a:avLst>
              <a:gd name="adj" fmla="val 41667"/>
            </a:avLst>
          </a:prstGeom>
          <a:solidFill>
            <a:srgbClr val="E7F6F3"/>
          </a:solidFill>
          <a:ln w="9525">
            <a:solidFill>
              <a:srgbClr val="7DBFB5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solidFill>
                  <a:srgbClr val="087D78"/>
                </a:solidFill>
              </a:defRPr>
            </a:pPr>
            <a:r>
              <a:rPr sz="1000" b="1">
                <a:solidFill>
                  <a:srgbClr val="087D78"/>
                </a:solidFill>
              </a:rPr>
              <a:t>Healthcare  H1–H5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="" xmlns:a16="http://schemas.microsoft.com/office/drawing/2014/main" id="{0F34FA7C-322F-49F9-91CB-76C1904D2341}"/>
              </a:ext>
            </a:extLst>
          </p:cNvPr>
          <p:cNvSpPr>
            <a:spLocks noGrp="1"/>
          </p:cNvSpPr>
          <p:nvPr/>
        </p:nvSpPr>
        <p:spPr>
          <a:xfrm>
            <a:off x="457200" y="2834640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>
                <a:solidFill>
                  <a:srgbClr val="172B49"/>
                </a:solidFill>
              </a:defRPr>
            </a:pPr>
            <a:r>
              <a:rPr sz="1050">
                <a:solidFill>
                  <a:srgbClr val="172B49"/>
                </a:solidFill>
              </a:rPr>
              <a:t>Read your problem statement in the Problem Statement Pack first.</a:t>
            </a:r>
            <a:endParaRPr sz="1050"/>
          </a:p>
          <a:p>
            <a:pPr marL="342900" indent="-342900">
              <a:spcAft>
                <a:spcPts val="400"/>
              </a:spcAft>
              <a:buSzPct val="100000"/>
              <a:buChar char="•"/>
              <a:defRPr>
                <a:solidFill>
                  <a:srgbClr val="172B49"/>
                </a:solidFill>
              </a:defRPr>
            </a:pPr>
            <a:r>
              <a:rPr sz="1050">
                <a:solidFill>
                  <a:srgbClr val="172B49"/>
                </a:solidFill>
              </a:rPr>
              <a:t>Replace the grey text in each box with your answer. Keep all 6 slides, in order.</a:t>
            </a:r>
            <a:endParaRPr sz="1050"/>
          </a:p>
          <a:p>
            <a:pPr marL="342900" indent="-342900">
              <a:spcAft>
                <a:spcPts val="400"/>
              </a:spcAft>
              <a:buSzPct val="100000"/>
              <a:buChar char="•"/>
              <a:defRPr>
                <a:solidFill>
                  <a:srgbClr val="172B49"/>
                </a:solidFill>
              </a:defRPr>
            </a:pPr>
            <a:r>
              <a:rPr sz="1050">
                <a:solidFill>
                  <a:srgbClr val="172B49"/>
                </a:solidFill>
              </a:rPr>
              <a:t>Write in text — not screenshots of text.</a:t>
            </a:r>
            <a:endParaRPr sz="1050"/>
          </a:p>
          <a:p>
            <a:pPr marL="342900" indent="-342900">
              <a:spcAft>
                <a:spcPts val="400"/>
              </a:spcAft>
              <a:buSzPct val="100000"/>
              <a:buChar char="•"/>
              <a:defRPr>
                <a:solidFill>
                  <a:srgbClr val="172B49"/>
                </a:solidFill>
              </a:defRPr>
            </a:pPr>
            <a:r>
              <a:rPr sz="1050">
                <a:solidFill>
                  <a:srgbClr val="172B49"/>
                </a:solidFill>
              </a:rPr>
              <a:t>Save as PDF: TeamName_ProblemID.pdf (e.g. Pixels_R1.pdf)</a:t>
            </a:r>
            <a:endParaRPr sz="1050"/>
          </a:p>
        </p:txBody>
      </p:sp>
      <p:sp>
        <p:nvSpPr>
          <p:cNvPr id="8" name="Cover form">
            <a:extLst>
              <a:ext uri="{FF2B5EF4-FFF2-40B4-BE49-F238E27FC236}">
                <a16:creationId xmlns="" xmlns:a16="http://schemas.microsoft.com/office/drawing/2014/main" id="{ACC4254B-69C4-47F9-BDB5-8E18BA256D28}"/>
              </a:ext>
            </a:extLst>
          </p:cNvPr>
          <p:cNvSpPr>
            <a:spLocks noGrp="1"/>
          </p:cNvSpPr>
          <p:nvPr/>
        </p:nvSpPr>
        <p:spPr>
          <a:xfrm>
            <a:off x="4846320" y="411480"/>
            <a:ext cx="3840480" cy="43434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7E2E9"/>
            </a:solidFill>
          </a:ln>
        </p:spPr>
      </p:sp>
      <p:sp>
        <p:nvSpPr>
          <p:cNvPr id="9" name="Label Team Name">
            <a:extLst>
              <a:ext uri="{FF2B5EF4-FFF2-40B4-BE49-F238E27FC236}">
                <a16:creationId xmlns="" xmlns:a16="http://schemas.microsoft.com/office/drawing/2014/main" id="{9BC6696B-B628-4202-82A2-85CB6DF5DBE2}"/>
              </a:ext>
            </a:extLst>
          </p:cNvPr>
          <p:cNvSpPr>
            <a:spLocks noGrp="1"/>
          </p:cNvSpPr>
          <p:nvPr/>
        </p:nvSpPr>
        <p:spPr>
          <a:xfrm>
            <a:off x="5029200" y="502920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172B49"/>
                </a:solidFill>
              </a:defRPr>
            </a:pPr>
            <a:r>
              <a:rPr sz="950" b="1">
                <a:solidFill>
                  <a:srgbClr val="172B49"/>
                </a:solidFill>
              </a:rPr>
              <a:t>Team Name</a:t>
            </a:r>
            <a:endParaRPr sz="950"/>
          </a:p>
        </p:txBody>
      </p:sp>
      <p:sp>
        <p:nvSpPr>
          <p:cNvPr id="10" name="Answer Team Name">
            <a:extLst>
              <a:ext uri="{FF2B5EF4-FFF2-40B4-BE49-F238E27FC236}">
                <a16:creationId xmlns="" xmlns:a16="http://schemas.microsoft.com/office/drawing/2014/main" id="{468A4D8D-9772-46AF-8850-FAE1B50063C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0" y="777240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1" name="Label Problem Statement ID">
            <a:extLst>
              <a:ext uri="{FF2B5EF4-FFF2-40B4-BE49-F238E27FC236}">
                <a16:creationId xmlns="" xmlns:a16="http://schemas.microsoft.com/office/drawing/2014/main" id="{15A09216-96BA-47E8-A8B9-F958B129F1E3}"/>
              </a:ext>
            </a:extLst>
          </p:cNvPr>
          <p:cNvSpPr>
            <a:spLocks noGrp="1"/>
          </p:cNvSpPr>
          <p:nvPr/>
        </p:nvSpPr>
        <p:spPr>
          <a:xfrm>
            <a:off x="5029200" y="1197864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950" b="1">
                <a:solidFill>
                  <a:srgbClr val="087D78"/>
                </a:solidFill>
              </a:rPr>
              <a:t>Problem Statement ID</a:t>
            </a:r>
            <a:endParaRPr sz="950"/>
          </a:p>
        </p:txBody>
      </p:sp>
      <p:sp>
        <p:nvSpPr>
          <p:cNvPr id="12" name="Answer Problem Statement ID">
            <a:extLst>
              <a:ext uri="{FF2B5EF4-FFF2-40B4-BE49-F238E27FC236}">
                <a16:creationId xmlns="" xmlns:a16="http://schemas.microsoft.com/office/drawing/2014/main" id="{DC9FEB52-AF7C-4E81-9314-145EE3CCF7C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029200" y="1472184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3" name="Label Problem Statement Ti">
            <a:extLst>
              <a:ext uri="{FF2B5EF4-FFF2-40B4-BE49-F238E27FC236}">
                <a16:creationId xmlns="" xmlns:a16="http://schemas.microsoft.com/office/drawing/2014/main" id="{C8CB2E9A-1B78-441C-80AA-DEA109D490A9}"/>
              </a:ext>
            </a:extLst>
          </p:cNvPr>
          <p:cNvSpPr>
            <a:spLocks noGrp="1"/>
          </p:cNvSpPr>
          <p:nvPr/>
        </p:nvSpPr>
        <p:spPr>
          <a:xfrm>
            <a:off x="5029200" y="189280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950" b="1">
                <a:solidFill>
                  <a:srgbClr val="087D78"/>
                </a:solidFill>
              </a:rPr>
              <a:t>Problem Statement Title</a:t>
            </a:r>
            <a:endParaRPr sz="950"/>
          </a:p>
        </p:txBody>
      </p:sp>
      <p:sp>
        <p:nvSpPr>
          <p:cNvPr id="14" name="Answer Problem Statement Ti">
            <a:extLst>
              <a:ext uri="{FF2B5EF4-FFF2-40B4-BE49-F238E27FC236}">
                <a16:creationId xmlns="" xmlns:a16="http://schemas.microsoft.com/office/drawing/2014/main" id="{5A57B447-A5CC-427C-95B4-76A23D81FFF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029200" y="2167128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5" name="Label Track (keep one)">
            <a:extLst>
              <a:ext uri="{FF2B5EF4-FFF2-40B4-BE49-F238E27FC236}">
                <a16:creationId xmlns="" xmlns:a16="http://schemas.microsoft.com/office/drawing/2014/main" id="{E81EE486-EAAD-4D0A-B55E-5E749B083E09}"/>
              </a:ext>
            </a:extLst>
          </p:cNvPr>
          <p:cNvSpPr>
            <a:spLocks noGrp="1"/>
          </p:cNvSpPr>
          <p:nvPr/>
        </p:nvSpPr>
        <p:spPr>
          <a:xfrm>
            <a:off x="5029200" y="2587752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950" b="1">
                <a:solidFill>
                  <a:srgbClr val="087D78"/>
                </a:solidFill>
              </a:rPr>
              <a:t>Track (keep one)</a:t>
            </a:r>
            <a:endParaRPr sz="950"/>
          </a:p>
        </p:txBody>
      </p:sp>
      <p:sp>
        <p:nvSpPr>
          <p:cNvPr id="16" name="Answer Track (keep one)">
            <a:extLst>
              <a:ext uri="{FF2B5EF4-FFF2-40B4-BE49-F238E27FC236}">
                <a16:creationId xmlns="" xmlns:a16="http://schemas.microsoft.com/office/drawing/2014/main" id="{BBFFC3BF-45E3-476B-887A-07A69B6A067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29200" y="2862072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7" name="Label College(s)">
            <a:extLst>
              <a:ext uri="{FF2B5EF4-FFF2-40B4-BE49-F238E27FC236}">
                <a16:creationId xmlns="" xmlns:a16="http://schemas.microsoft.com/office/drawing/2014/main" id="{4A9F17C4-BDF7-4998-8EF1-94F67FEA8DEF}"/>
              </a:ext>
            </a:extLst>
          </p:cNvPr>
          <p:cNvSpPr>
            <a:spLocks noGrp="1"/>
          </p:cNvSpPr>
          <p:nvPr/>
        </p:nvSpPr>
        <p:spPr>
          <a:xfrm>
            <a:off x="5029200" y="3282696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950" b="1">
                <a:solidFill>
                  <a:srgbClr val="087D78"/>
                </a:solidFill>
              </a:rPr>
              <a:t>College(s)</a:t>
            </a:r>
            <a:endParaRPr sz="950"/>
          </a:p>
        </p:txBody>
      </p:sp>
      <p:sp>
        <p:nvSpPr>
          <p:cNvPr id="18" name="Answer College(s)">
            <a:extLst>
              <a:ext uri="{FF2B5EF4-FFF2-40B4-BE49-F238E27FC236}">
                <a16:creationId xmlns="" xmlns:a16="http://schemas.microsoft.com/office/drawing/2014/main" id="{C6F0D6CB-7E57-45C6-9892-51B13A9EDC6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029200" y="3557016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9" name="Label Team Lead · Mobile ·">
            <a:extLst>
              <a:ext uri="{FF2B5EF4-FFF2-40B4-BE49-F238E27FC236}">
                <a16:creationId xmlns="" xmlns:a16="http://schemas.microsoft.com/office/drawing/2014/main" id="{CCDC462F-DAEE-4906-9689-2E49B1906218}"/>
              </a:ext>
            </a:extLst>
          </p:cNvPr>
          <p:cNvSpPr>
            <a:spLocks noGrp="1"/>
          </p:cNvSpPr>
          <p:nvPr/>
        </p:nvSpPr>
        <p:spPr>
          <a:xfrm>
            <a:off x="5029200" y="3977640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950" b="1">
                <a:solidFill>
                  <a:srgbClr val="087D78"/>
                </a:solidFill>
              </a:rPr>
              <a:t>Team Lead · Mobile · Email</a:t>
            </a:r>
            <a:endParaRPr sz="950"/>
          </a:p>
        </p:txBody>
      </p:sp>
      <p:sp>
        <p:nvSpPr>
          <p:cNvPr id="20" name="Answer Team Lead · Mobile ·">
            <a:extLst>
              <a:ext uri="{FF2B5EF4-FFF2-40B4-BE49-F238E27FC236}">
                <a16:creationId xmlns="" xmlns:a16="http://schemas.microsoft.com/office/drawing/2014/main" id="{7CE061C3-E02C-4C04-8E65-082BAA828E7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029200" y="4251960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0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1" name="Track 1">
            <a:extLst>
              <a:ext uri="{FF2B5EF4-FFF2-40B4-BE49-F238E27FC236}">
                <a16:creationId xmlns="" xmlns:a16="http://schemas.microsoft.com/office/drawing/2014/main" id="{C3B0D033-410D-47A4-8FA2-267D401F8D99}"/>
              </a:ext>
            </a:extLst>
          </p:cNvPr>
          <p:cNvSpPr>
            <a:spLocks noGrp="1"/>
          </p:cNvSpPr>
          <p:nvPr/>
        </p:nvSpPr>
        <p:spPr>
          <a:xfrm>
            <a:off x="3227588" y="2194560"/>
            <a:ext cx="1188429" cy="329184"/>
          </a:xfrm>
          <a:prstGeom prst="roundRect">
            <a:avLst>
              <a:gd name="adj" fmla="val 41667"/>
            </a:avLst>
          </a:prstGeom>
          <a:solidFill>
            <a:srgbClr val="E7F6F3"/>
          </a:solidFill>
          <a:ln w="9525">
            <a:solidFill>
              <a:srgbClr val="7DBFB5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solidFill>
                  <a:srgbClr val="087D78"/>
                </a:solidFill>
              </a:defRPr>
            </a:pPr>
            <a:r>
              <a:rPr sz="1000" b="1">
                <a:solidFill>
                  <a:srgbClr val="087D78"/>
                </a:solidFill>
              </a:rPr>
              <a:t>BFSI</a:t>
            </a:r>
            <a:endParaRPr sz="1000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26C32606-E5B7-4FC7-AE14-28126B7BA6B0}"/>
              </a:ext>
            </a:extLst>
          </p:cNvPr>
          <p:cNvSpPr>
            <a:spLocks noGrp="1"/>
          </p:cNvSpPr>
          <p:nvPr/>
        </p:nvSpPr>
        <p:spPr>
          <a:xfrm>
            <a:off x="628649" y="4285498"/>
            <a:ext cx="34671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>
                <a:solidFill>
                  <a:srgbClr val="087D78"/>
                </a:solidFill>
              </a:defRPr>
            </a:pPr>
            <a:r>
              <a:rPr sz="1100" dirty="0">
                <a:solidFill>
                  <a:srgbClr val="087D78"/>
                </a:solidFill>
                <a:hlinkClick r:id="rId4"/>
              </a:rPr>
              <a:t>www.innosmart.in</a:t>
            </a:r>
            <a:r>
              <a:rPr sz="1100" dirty="0">
                <a:solidFill>
                  <a:srgbClr val="087D78"/>
                </a:solidFill>
              </a:rPr>
              <a:t>  | </a:t>
            </a:r>
            <a:r>
              <a:rPr sz="1100" dirty="0">
                <a:solidFill>
                  <a:srgbClr val="087D78"/>
                </a:solidFill>
                <a:hlinkClick r:id="rId5"/>
              </a:rPr>
              <a:t>www.talentap.in</a:t>
            </a:r>
            <a:r>
              <a:rPr sz="1100" dirty="0">
                <a:solidFill>
                  <a:srgbClr val="087D78"/>
                </a:solidFill>
              </a:rPr>
              <a:t>  |  </a:t>
            </a:r>
            <a:r>
              <a:rPr sz="1100" dirty="0">
                <a:solidFill>
                  <a:srgbClr val="087D78"/>
                </a:solidFill>
                <a:hlinkClick r:id="rId6"/>
              </a:rPr>
              <a:t>www.apdti.in</a:t>
            </a:r>
            <a:r>
              <a:rPr sz="1100" dirty="0">
                <a:solidFill>
                  <a:srgbClr val="087D78"/>
                </a:solidFill>
              </a:rPr>
              <a:t> </a:t>
            </a:r>
            <a:endParaRPr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26" name="Picture 2" descr="E:\logos\logo\DTNF\DTNF_logo_4k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570" y="35835"/>
            <a:ext cx="500380" cy="48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E:\logos\logo\TAP\TAP_logo_Final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52" y="11026"/>
            <a:ext cx="2659815" cy="99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" descr="E:\logos\logo\AP DTI\Network\Full Text\APDTIN-Logo-With-Full-Text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" y="4646434"/>
            <a:ext cx="1532750" cy="36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70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>
            <a:extLst>
              <a:ext uri="{FF2B5EF4-FFF2-40B4-BE49-F238E27FC236}">
                <a16:creationId xmlns="" xmlns:a16="http://schemas.microsoft.com/office/drawing/2014/main" id="{D6BDD9E6-8F62-44D5-9866-DEF28DDDC71E}"/>
              </a:ext>
            </a:extLst>
          </p:cNvPr>
          <p:cNvSpPr>
            <a:spLocks noGrp="1"/>
          </p:cNvSpPr>
          <p:nvPr/>
        </p:nvSpPr>
        <p:spPr>
          <a:xfrm>
            <a:off x="457200" y="265176"/>
            <a:ext cx="393192" cy="393192"/>
          </a:xfrm>
          <a:prstGeom prst="ellipse">
            <a:avLst/>
          </a:prstGeom>
          <a:solidFill>
            <a:srgbClr val="B2EADC"/>
          </a:solidFill>
          <a:ln w="0">
            <a:noFill/>
          </a:ln>
        </p:spPr>
      </p:sp>
      <p:sp>
        <p:nvSpPr>
          <p:cNvPr id="3" name="Text 1">
            <a:extLst>
              <a:ext uri="{FF2B5EF4-FFF2-40B4-BE49-F238E27FC236}">
                <a16:creationId xmlns="" xmlns:a16="http://schemas.microsoft.com/office/drawing/2014/main" id="{8E942942-F91F-4275-8EFF-6E89B29A5995}"/>
              </a:ext>
            </a:extLst>
          </p:cNvPr>
          <p:cNvSpPr>
            <a:spLocks noGrp="1"/>
          </p:cNvSpPr>
          <p:nvPr/>
        </p:nvSpPr>
        <p:spPr>
          <a:xfrm>
            <a:off x="457200" y="265176"/>
            <a:ext cx="393192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solidFill>
                  <a:srgbClr val="071A2D"/>
                </a:solidFill>
              </a:defRPr>
            </a:pPr>
            <a:r>
              <a:rPr sz="1200" b="1">
                <a:solidFill>
                  <a:srgbClr val="071A2D"/>
                </a:solidFill>
                <a:latin typeface="Arial"/>
                <a:ea typeface="Arial"/>
                <a:cs typeface="Arial"/>
              </a:rPr>
              <a:t>01</a:t>
            </a:r>
            <a:endParaRPr sz="1200"/>
          </a:p>
        </p:txBody>
      </p:sp>
      <p:sp>
        <p:nvSpPr>
          <p:cNvPr id="4" name="Text 0">
            <a:extLst>
              <a:ext uri="{FF2B5EF4-FFF2-40B4-BE49-F238E27FC236}">
                <a16:creationId xmlns="" xmlns:a16="http://schemas.microsoft.com/office/drawing/2014/main" id="{6B5A7E3C-8DD5-46C4-A1A8-96C743886F97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960120" y="256032"/>
            <a:ext cx="77266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>
                <a:solidFill>
                  <a:srgbClr val="172B49"/>
                </a:solidFill>
              </a:defRPr>
            </a:pPr>
            <a:r>
              <a:rPr sz="2200" b="1">
                <a:solidFill>
                  <a:srgbClr val="172B49"/>
                </a:solidFill>
                <a:latin typeface="Arial"/>
                <a:ea typeface="Arial"/>
                <a:cs typeface="Arial"/>
              </a:rPr>
              <a:t>Problem Understanding</a:t>
            </a:r>
            <a:endParaRPr sz="2200"/>
          </a:p>
        </p:txBody>
      </p:sp>
      <p:sp>
        <p:nvSpPr>
          <p:cNvPr id="5" name="Text 3">
            <a:extLst>
              <a:ext uri="{FF2B5EF4-FFF2-40B4-BE49-F238E27FC236}">
                <a16:creationId xmlns="" xmlns:a16="http://schemas.microsoft.com/office/drawing/2014/main" id="{25BCE1B8-F7BE-4343-AC28-786B00FE3F24}"/>
              </a:ext>
            </a:extLst>
          </p:cNvPr>
          <p:cNvSpPr>
            <a:spLocks noGrp="1"/>
          </p:cNvSpPr>
          <p:nvPr/>
        </p:nvSpPr>
        <p:spPr>
          <a:xfrm>
            <a:off x="960120" y="667512"/>
            <a:ext cx="77266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  <a:defRPr>
                <a:solidFill>
                  <a:srgbClr val="172B49"/>
                </a:solidFill>
              </a:defRPr>
            </a:pPr>
            <a:r>
              <a:rPr sz="1000" i="1">
                <a:solidFill>
                  <a:srgbClr val="172B49"/>
                </a:solidFill>
              </a:rPr>
              <a:t>Show you understand the real pain — in your own words, not copied from the pack.</a:t>
            </a:r>
            <a:endParaRPr sz="1000"/>
          </a:p>
        </p:txBody>
      </p:sp>
      <p:sp>
        <p:nvSpPr>
          <p:cNvPr id="6" name="Label 1.1 The problem and ">
            <a:extLst>
              <a:ext uri="{FF2B5EF4-FFF2-40B4-BE49-F238E27FC236}">
                <a16:creationId xmlns="" xmlns:a16="http://schemas.microsoft.com/office/drawing/2014/main" id="{FED7DEBF-2186-4165-9CF0-B1967E9008AF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397764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1050" b="1">
                <a:solidFill>
                  <a:srgbClr val="087D78"/>
                </a:solidFill>
              </a:rPr>
              <a:t>1.1 The problem and who it hurts (max 60 words)</a:t>
            </a:r>
            <a:endParaRPr sz="1050"/>
          </a:p>
        </p:txBody>
      </p:sp>
      <p:sp>
        <p:nvSpPr>
          <p:cNvPr id="7" name="Answer 1.1 The problem and ">
            <a:extLst>
              <a:ext uri="{FF2B5EF4-FFF2-40B4-BE49-F238E27FC236}">
                <a16:creationId xmlns="" xmlns:a16="http://schemas.microsoft.com/office/drawing/2014/main" id="{295D5656-D4E1-428A-9E6F-3002D86CC75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7200" y="1234440"/>
            <a:ext cx="3977640" cy="1645920"/>
          </a:xfrm>
          <a:prstGeom prst="roundRect">
            <a:avLst>
              <a:gd name="adj" fmla="val 3333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50">
                <a:solidFill>
                  <a:srgbClr val="64748B"/>
                </a:solidFill>
              </a:defRPr>
            </a:pPr>
            <a:endParaRPr dirty="0"/>
          </a:p>
        </p:txBody>
      </p:sp>
      <p:sp>
        <p:nvSpPr>
          <p:cNvPr id="8" name="Label 1.2 The metric that ">
            <a:extLst>
              <a:ext uri="{FF2B5EF4-FFF2-40B4-BE49-F238E27FC236}">
                <a16:creationId xmlns="" xmlns:a16="http://schemas.microsoft.com/office/drawing/2014/main" id="{E1FC0B69-466A-4FA8-B1F1-888235094DEB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7764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1050" b="1">
                <a:solidFill>
                  <a:srgbClr val="087D78"/>
                </a:solidFill>
              </a:rPr>
              <a:t>1.2 The metric that matters, and why (max 40 words)</a:t>
            </a:r>
            <a:endParaRPr sz="1050"/>
          </a:p>
        </p:txBody>
      </p:sp>
      <p:sp>
        <p:nvSpPr>
          <p:cNvPr id="9" name="Answer 1.2 The metric that ">
            <a:extLst>
              <a:ext uri="{FF2B5EF4-FFF2-40B4-BE49-F238E27FC236}">
                <a16:creationId xmlns="" xmlns:a16="http://schemas.microsoft.com/office/drawing/2014/main" id="{B6F82415-AA8C-47B3-9AFC-A9C6AF5F924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57200" y="329184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5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0" name="Label 1.3 Your key assumpt">
            <a:extLst>
              <a:ext uri="{FF2B5EF4-FFF2-40B4-BE49-F238E27FC236}">
                <a16:creationId xmlns="" xmlns:a16="http://schemas.microsoft.com/office/drawing/2014/main" id="{E9111349-4E8E-4794-A003-CFD3401F50E4}"/>
              </a:ext>
            </a:extLst>
          </p:cNvPr>
          <p:cNvSpPr>
            <a:spLocks noGrp="1"/>
          </p:cNvSpPr>
          <p:nvPr/>
        </p:nvSpPr>
        <p:spPr>
          <a:xfrm>
            <a:off x="4709160" y="960120"/>
            <a:ext cx="397764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1050" b="1">
                <a:solidFill>
                  <a:srgbClr val="087D78"/>
                </a:solidFill>
              </a:rPr>
              <a:t>1.3 Your key assumptions (3–5, with a reason each)</a:t>
            </a:r>
            <a:endParaRPr sz="1050"/>
          </a:p>
        </p:txBody>
      </p:sp>
      <p:sp>
        <p:nvSpPr>
          <p:cNvPr id="11" name="Answer 1.3 Your key assumpt">
            <a:extLst>
              <a:ext uri="{FF2B5EF4-FFF2-40B4-BE49-F238E27FC236}">
                <a16:creationId xmlns="" xmlns:a16="http://schemas.microsoft.com/office/drawing/2014/main" id="{02F7E347-9640-45DC-86AF-0E1E9EC3E983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709160" y="1234440"/>
            <a:ext cx="3977640" cy="3383280"/>
          </a:xfrm>
          <a:prstGeom prst="roundRect">
            <a:avLst>
              <a:gd name="adj" fmla="val 1622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50">
                <a:solidFill>
                  <a:srgbClr val="64748B"/>
                </a:solidFill>
              </a:defRPr>
            </a:pPr>
            <a:endParaRPr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="" xmlns:a16="http://schemas.microsoft.com/office/drawing/2014/main" id="{3294BBF9-0D31-4678-94B7-4D62E547AF4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chemeClr val="accent4"/>
                </a:solidFill>
              </a:defRPr>
            </a:lvl1pPr>
          </a:lstStyle>
          <a:p>
            <a:pPr algn="r">
              <a:buNone/>
              <a:defRPr>
                <a:solidFill>
                  <a:srgbClr val="087D78"/>
                </a:solidFill>
              </a:defRPr>
            </a:pPr>
            <a:fld id="{F7021451-1387-4CA6-816F-3879F97B5CBC}" type="slidenum">
              <a:rPr b="0">
                <a:solidFill>
                  <a:srgbClr val="087D78"/>
                </a:solidFill>
              </a:rPr>
              <a:t>2</a:t>
            </a:fld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327D04F-6417-4709-8C40-C9773A8843A6}"/>
              </a:ext>
            </a:extLst>
          </p:cNvPr>
          <p:cNvSpPr>
            <a:spLocks noGrp="1"/>
          </p:cNvSpPr>
          <p:nvPr/>
        </p:nvSpPr>
        <p:spPr>
          <a:xfrm>
            <a:off x="5067299" y="4740158"/>
            <a:ext cx="34671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>
                <a:solidFill>
                  <a:srgbClr val="087D78"/>
                </a:solidFill>
              </a:defRPr>
            </a:pPr>
            <a:r>
              <a:rPr sz="1100">
                <a:solidFill>
                  <a:srgbClr val="087D78"/>
                </a:solidFill>
                <a:hlinkClick r:id="rId4"/>
              </a:rPr>
              <a:t>www.innosmart.in</a:t>
            </a:r>
            <a:r>
              <a:rPr sz="1100">
                <a:solidFill>
                  <a:srgbClr val="087D78"/>
                </a:solidFill>
              </a:rPr>
              <a:t>  | </a:t>
            </a:r>
            <a:r>
              <a:rPr sz="1100">
                <a:solidFill>
                  <a:srgbClr val="087D78"/>
                </a:solidFill>
                <a:hlinkClick r:id="rId5"/>
              </a:rPr>
              <a:t>www.talentap.in</a:t>
            </a:r>
            <a:r>
              <a:rPr sz="1100">
                <a:solidFill>
                  <a:srgbClr val="087D78"/>
                </a:solidFill>
              </a:rPr>
              <a:t>  |  </a:t>
            </a:r>
            <a:r>
              <a:rPr sz="1100">
                <a:solidFill>
                  <a:srgbClr val="087D78"/>
                </a:solidFill>
                <a:hlinkClick r:id="rId6"/>
              </a:rPr>
              <a:t>www.apdti.in</a:t>
            </a:r>
            <a:r>
              <a:rPr sz="1100">
                <a:solidFill>
                  <a:srgbClr val="087D78"/>
                </a:solidFill>
              </a:rPr>
              <a:t> </a:t>
            </a:r>
            <a:endParaRPr sz="11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248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>
            <a:extLst>
              <a:ext uri="{FF2B5EF4-FFF2-40B4-BE49-F238E27FC236}">
                <a16:creationId xmlns="" xmlns:a16="http://schemas.microsoft.com/office/drawing/2014/main" id="{AE94DAB2-98D9-42C0-ACF8-E7538EB893A5}"/>
              </a:ext>
            </a:extLst>
          </p:cNvPr>
          <p:cNvSpPr>
            <a:spLocks noGrp="1"/>
          </p:cNvSpPr>
          <p:nvPr/>
        </p:nvSpPr>
        <p:spPr>
          <a:xfrm>
            <a:off x="457200" y="265176"/>
            <a:ext cx="393192" cy="393192"/>
          </a:xfrm>
          <a:prstGeom prst="ellipse">
            <a:avLst/>
          </a:prstGeom>
          <a:solidFill>
            <a:srgbClr val="B2EADC"/>
          </a:solidFill>
          <a:ln w="0">
            <a:noFill/>
          </a:ln>
        </p:spPr>
      </p:sp>
      <p:sp>
        <p:nvSpPr>
          <p:cNvPr id="3" name="Text 1">
            <a:extLst>
              <a:ext uri="{FF2B5EF4-FFF2-40B4-BE49-F238E27FC236}">
                <a16:creationId xmlns="" xmlns:a16="http://schemas.microsoft.com/office/drawing/2014/main" id="{479D6E68-4FBE-44DB-85C8-F9DA6314AC55}"/>
              </a:ext>
            </a:extLst>
          </p:cNvPr>
          <p:cNvSpPr>
            <a:spLocks noGrp="1"/>
          </p:cNvSpPr>
          <p:nvPr/>
        </p:nvSpPr>
        <p:spPr>
          <a:xfrm>
            <a:off x="457200" y="265176"/>
            <a:ext cx="393192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solidFill>
                  <a:srgbClr val="071A2D"/>
                </a:solidFill>
              </a:defRPr>
            </a:pPr>
            <a:r>
              <a:rPr sz="1200" b="1">
                <a:solidFill>
                  <a:srgbClr val="071A2D"/>
                </a:solidFill>
                <a:latin typeface="Arial"/>
                <a:ea typeface="Arial"/>
                <a:cs typeface="Arial"/>
              </a:rPr>
              <a:t>02</a:t>
            </a:r>
            <a:endParaRPr sz="1200"/>
          </a:p>
        </p:txBody>
      </p:sp>
      <p:sp>
        <p:nvSpPr>
          <p:cNvPr id="4" name="Text 0">
            <a:extLst>
              <a:ext uri="{FF2B5EF4-FFF2-40B4-BE49-F238E27FC236}">
                <a16:creationId xmlns="" xmlns:a16="http://schemas.microsoft.com/office/drawing/2014/main" id="{4098845A-077B-4F9F-985C-607BEAB2DF2C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960120" y="256032"/>
            <a:ext cx="77266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>
                <a:solidFill>
                  <a:srgbClr val="172B49"/>
                </a:solidFill>
              </a:defRPr>
            </a:pPr>
            <a:r>
              <a:rPr sz="2200" b="1">
                <a:solidFill>
                  <a:srgbClr val="172B49"/>
                </a:solidFill>
                <a:latin typeface="Arial"/>
                <a:ea typeface="Arial"/>
                <a:cs typeface="Arial"/>
              </a:rPr>
              <a:t>Solution &amp; Technical Approach</a:t>
            </a:r>
            <a:endParaRPr sz="2200"/>
          </a:p>
        </p:txBody>
      </p:sp>
      <p:sp>
        <p:nvSpPr>
          <p:cNvPr id="5" name="Text 3">
            <a:extLst>
              <a:ext uri="{FF2B5EF4-FFF2-40B4-BE49-F238E27FC236}">
                <a16:creationId xmlns="" xmlns:a16="http://schemas.microsoft.com/office/drawing/2014/main" id="{496FAF6C-3FBA-4254-9FB9-069129384913}"/>
              </a:ext>
            </a:extLst>
          </p:cNvPr>
          <p:cNvSpPr>
            <a:spLocks noGrp="1"/>
          </p:cNvSpPr>
          <p:nvPr/>
        </p:nvSpPr>
        <p:spPr>
          <a:xfrm>
            <a:off x="960120" y="667512"/>
            <a:ext cx="77266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  <a:defRPr>
                <a:solidFill>
                  <a:srgbClr val="172B49"/>
                </a:solidFill>
              </a:defRPr>
            </a:pPr>
            <a:r>
              <a:rPr sz="1000" i="1">
                <a:solidFill>
                  <a:srgbClr val="172B49"/>
                </a:solidFill>
              </a:rPr>
              <a:t>Clear thinking beats compute. CPU-only, using the data and models we provide.</a:t>
            </a:r>
            <a:endParaRPr sz="1000"/>
          </a:p>
        </p:txBody>
      </p:sp>
      <p:sp>
        <p:nvSpPr>
          <p:cNvPr id="6" name="Label 2.1 One-line pitch (">
            <a:extLst>
              <a:ext uri="{FF2B5EF4-FFF2-40B4-BE49-F238E27FC236}">
                <a16:creationId xmlns="" xmlns:a16="http://schemas.microsoft.com/office/drawing/2014/main" id="{467938C4-939D-4AE2-AF57-CF2624EB7DBC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1050" b="1">
                <a:solidFill>
                  <a:srgbClr val="087D78"/>
                </a:solidFill>
              </a:rPr>
              <a:t>2.1 One-line pitch (max 25 words)</a:t>
            </a:r>
            <a:endParaRPr sz="1050"/>
          </a:p>
        </p:txBody>
      </p:sp>
      <p:sp>
        <p:nvSpPr>
          <p:cNvPr id="7" name="Answer 2.1 One-line pitch (">
            <a:extLst>
              <a:ext uri="{FF2B5EF4-FFF2-40B4-BE49-F238E27FC236}">
                <a16:creationId xmlns="" xmlns:a16="http://schemas.microsoft.com/office/drawing/2014/main" id="{8C4D6C36-C1DC-4B77-B7C5-437924CFB43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7200" y="12344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5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8" name="Label 2.2 Your approach, s">
            <a:extLst>
              <a:ext uri="{FF2B5EF4-FFF2-40B4-BE49-F238E27FC236}">
                <a16:creationId xmlns="" xmlns:a16="http://schemas.microsoft.com/office/drawing/2014/main" id="{934B6A3B-E05D-4603-8059-CF71C47AB72F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397764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1050" b="1">
                <a:solidFill>
                  <a:srgbClr val="087D78"/>
                </a:solidFill>
              </a:rPr>
              <a:t>2.2 Your approach, step by step (max 100 words)</a:t>
            </a:r>
            <a:endParaRPr sz="1050"/>
          </a:p>
        </p:txBody>
      </p:sp>
      <p:sp>
        <p:nvSpPr>
          <p:cNvPr id="9" name="Answer 2.2 Your approach, s">
            <a:extLst>
              <a:ext uri="{FF2B5EF4-FFF2-40B4-BE49-F238E27FC236}">
                <a16:creationId xmlns="" xmlns:a16="http://schemas.microsoft.com/office/drawing/2014/main" id="{B2D45F87-9B1E-45E0-BACF-E3F5754DE1D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57200" y="2103120"/>
            <a:ext cx="3977640" cy="2514600"/>
          </a:xfrm>
          <a:prstGeom prst="roundRect">
            <a:avLst>
              <a:gd name="adj" fmla="val 2182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5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0" name="Label 2.3 Models, methods ">
            <a:extLst>
              <a:ext uri="{FF2B5EF4-FFF2-40B4-BE49-F238E27FC236}">
                <a16:creationId xmlns="" xmlns:a16="http://schemas.microsoft.com/office/drawing/2014/main" id="{60F2EE46-B87F-4795-A900-BADA05D153E2}"/>
              </a:ext>
            </a:extLst>
          </p:cNvPr>
          <p:cNvSpPr>
            <a:spLocks noGrp="1"/>
          </p:cNvSpPr>
          <p:nvPr/>
        </p:nvSpPr>
        <p:spPr>
          <a:xfrm>
            <a:off x="4709160" y="1828800"/>
            <a:ext cx="397764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1050" b="1">
                <a:solidFill>
                  <a:srgbClr val="087D78"/>
                </a:solidFill>
              </a:rPr>
              <a:t>2.3 Models, methods &amp; tools (max 40 words)</a:t>
            </a:r>
            <a:endParaRPr sz="1050"/>
          </a:p>
        </p:txBody>
      </p:sp>
      <p:sp>
        <p:nvSpPr>
          <p:cNvPr id="11" name="Answer 2.3 Models, methods ">
            <a:extLst>
              <a:ext uri="{FF2B5EF4-FFF2-40B4-BE49-F238E27FC236}">
                <a16:creationId xmlns="" xmlns:a16="http://schemas.microsoft.com/office/drawing/2014/main" id="{E9CD665A-1E24-43DD-BCD2-A2F74D54EB6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709160" y="2103120"/>
            <a:ext cx="3977640" cy="1051560"/>
          </a:xfrm>
          <a:prstGeom prst="roundRect">
            <a:avLst>
              <a:gd name="adj" fmla="val 5217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5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2" name="Label 2.4 How you will bea">
            <a:extLst>
              <a:ext uri="{FF2B5EF4-FFF2-40B4-BE49-F238E27FC236}">
                <a16:creationId xmlns="" xmlns:a16="http://schemas.microsoft.com/office/drawing/2014/main" id="{87013687-967E-488C-8D3F-EB3FE45C90A2}"/>
              </a:ext>
            </a:extLst>
          </p:cNvPr>
          <p:cNvSpPr>
            <a:spLocks noGrp="1"/>
          </p:cNvSpPr>
          <p:nvPr/>
        </p:nvSpPr>
        <p:spPr>
          <a:xfrm>
            <a:off x="4709160" y="3291840"/>
            <a:ext cx="397764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1050" b="1">
                <a:solidFill>
                  <a:srgbClr val="087D78"/>
                </a:solidFill>
              </a:rPr>
              <a:t>2.4 How you will beat the baseline (max 40 words)</a:t>
            </a:r>
            <a:endParaRPr sz="1050"/>
          </a:p>
        </p:txBody>
      </p:sp>
      <p:sp>
        <p:nvSpPr>
          <p:cNvPr id="13" name="Answer 2.4 How you will bea">
            <a:extLst>
              <a:ext uri="{FF2B5EF4-FFF2-40B4-BE49-F238E27FC236}">
                <a16:creationId xmlns="" xmlns:a16="http://schemas.microsoft.com/office/drawing/2014/main" id="{8D16F5E1-34AD-413B-A663-AA1EE076818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09160" y="3566160"/>
            <a:ext cx="3977640" cy="1051560"/>
          </a:xfrm>
          <a:prstGeom prst="roundRect">
            <a:avLst>
              <a:gd name="adj" fmla="val 5217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5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5" name="Slide Number Placeholder 0">
            <a:extLst>
              <a:ext uri="{FF2B5EF4-FFF2-40B4-BE49-F238E27FC236}">
                <a16:creationId xmlns="" xmlns:a16="http://schemas.microsoft.com/office/drawing/2014/main" id="{05913325-7600-4615-A50B-5EC004C7D7D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chemeClr val="accent4"/>
                </a:solidFill>
              </a:defRPr>
            </a:lvl1pPr>
          </a:lstStyle>
          <a:p>
            <a:pPr algn="r">
              <a:buNone/>
              <a:defRPr>
                <a:solidFill>
                  <a:srgbClr val="087D78"/>
                </a:solidFill>
              </a:defRPr>
            </a:pPr>
            <a:fld id="{F7021451-1387-4CA6-816F-3879F97B5CBC}" type="slidenum">
              <a:rPr b="0">
                <a:solidFill>
                  <a:srgbClr val="087D78"/>
                </a:solidFill>
              </a:rPr>
              <a:t>3</a:t>
            </a:fld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DF806F9-DCFF-40D6-9FF5-5EF4308C0727}"/>
              </a:ext>
            </a:extLst>
          </p:cNvPr>
          <p:cNvSpPr>
            <a:spLocks noGrp="1"/>
          </p:cNvSpPr>
          <p:nvPr/>
        </p:nvSpPr>
        <p:spPr>
          <a:xfrm>
            <a:off x="5067299" y="4740158"/>
            <a:ext cx="34671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>
                <a:solidFill>
                  <a:srgbClr val="087D78"/>
                </a:solidFill>
              </a:defRPr>
            </a:pPr>
            <a:r>
              <a:rPr sz="1100">
                <a:solidFill>
                  <a:srgbClr val="087D78"/>
                </a:solidFill>
                <a:hlinkClick r:id="rId4"/>
              </a:rPr>
              <a:t>www.innosmart.in</a:t>
            </a:r>
            <a:r>
              <a:rPr sz="1100">
                <a:solidFill>
                  <a:srgbClr val="087D78"/>
                </a:solidFill>
              </a:rPr>
              <a:t>  | </a:t>
            </a:r>
            <a:r>
              <a:rPr sz="1100">
                <a:solidFill>
                  <a:srgbClr val="087D78"/>
                </a:solidFill>
                <a:hlinkClick r:id="rId5"/>
              </a:rPr>
              <a:t>www.talentap.in</a:t>
            </a:r>
            <a:r>
              <a:rPr sz="1100">
                <a:solidFill>
                  <a:srgbClr val="087D78"/>
                </a:solidFill>
              </a:rPr>
              <a:t>  |  </a:t>
            </a:r>
            <a:r>
              <a:rPr sz="1100">
                <a:solidFill>
                  <a:srgbClr val="087D78"/>
                </a:solidFill>
                <a:hlinkClick r:id="rId6"/>
              </a:rPr>
              <a:t>www.apdti.in</a:t>
            </a:r>
            <a:r>
              <a:rPr sz="1100">
                <a:solidFill>
                  <a:srgbClr val="087D78"/>
                </a:solidFill>
              </a:rPr>
              <a:t> </a:t>
            </a:r>
            <a:endParaRPr sz="11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314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>
            <a:extLst>
              <a:ext uri="{FF2B5EF4-FFF2-40B4-BE49-F238E27FC236}">
                <a16:creationId xmlns="" xmlns:a16="http://schemas.microsoft.com/office/drawing/2014/main" id="{FF93AA4A-3F47-462E-8060-0A696AA467D3}"/>
              </a:ext>
            </a:extLst>
          </p:cNvPr>
          <p:cNvSpPr>
            <a:spLocks noGrp="1"/>
          </p:cNvSpPr>
          <p:nvPr/>
        </p:nvSpPr>
        <p:spPr>
          <a:xfrm>
            <a:off x="457200" y="265176"/>
            <a:ext cx="393192" cy="393192"/>
          </a:xfrm>
          <a:prstGeom prst="ellipse">
            <a:avLst/>
          </a:prstGeom>
          <a:solidFill>
            <a:srgbClr val="B2EADC"/>
          </a:solidFill>
          <a:ln w="0">
            <a:noFill/>
          </a:ln>
        </p:spPr>
      </p:sp>
      <p:sp>
        <p:nvSpPr>
          <p:cNvPr id="3" name="Text 1">
            <a:extLst>
              <a:ext uri="{FF2B5EF4-FFF2-40B4-BE49-F238E27FC236}">
                <a16:creationId xmlns="" xmlns:a16="http://schemas.microsoft.com/office/drawing/2014/main" id="{D24ED4DF-BA6D-446F-8575-574A58707D82}"/>
              </a:ext>
            </a:extLst>
          </p:cNvPr>
          <p:cNvSpPr>
            <a:spLocks noGrp="1"/>
          </p:cNvSpPr>
          <p:nvPr/>
        </p:nvSpPr>
        <p:spPr>
          <a:xfrm>
            <a:off x="457200" y="265176"/>
            <a:ext cx="393192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solidFill>
                  <a:srgbClr val="071A2D"/>
                </a:solidFill>
              </a:defRPr>
            </a:pPr>
            <a:r>
              <a:rPr sz="1200" b="1">
                <a:solidFill>
                  <a:srgbClr val="071A2D"/>
                </a:solidFill>
                <a:latin typeface="Arial"/>
                <a:ea typeface="Arial"/>
                <a:cs typeface="Arial"/>
              </a:rPr>
              <a:t>03</a:t>
            </a:r>
            <a:endParaRPr sz="1200"/>
          </a:p>
        </p:txBody>
      </p:sp>
      <p:sp>
        <p:nvSpPr>
          <p:cNvPr id="4" name="Text 0">
            <a:extLst>
              <a:ext uri="{FF2B5EF4-FFF2-40B4-BE49-F238E27FC236}">
                <a16:creationId xmlns="" xmlns:a16="http://schemas.microsoft.com/office/drawing/2014/main" id="{8E4026E1-FBF1-4A33-A3ED-786AC636B794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960120" y="256032"/>
            <a:ext cx="77266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>
                <a:solidFill>
                  <a:srgbClr val="172B49"/>
                </a:solidFill>
              </a:defRPr>
            </a:pPr>
            <a:r>
              <a:rPr sz="2200" b="1">
                <a:solidFill>
                  <a:srgbClr val="172B49"/>
                </a:solidFill>
                <a:latin typeface="Arial"/>
                <a:ea typeface="Arial"/>
                <a:cs typeface="Arial"/>
              </a:rPr>
              <a:t>Usability &amp; Responsible AI</a:t>
            </a:r>
            <a:endParaRPr sz="2200"/>
          </a:p>
        </p:txBody>
      </p:sp>
      <p:sp>
        <p:nvSpPr>
          <p:cNvPr id="5" name="Text 3">
            <a:extLst>
              <a:ext uri="{FF2B5EF4-FFF2-40B4-BE49-F238E27FC236}">
                <a16:creationId xmlns="" xmlns:a16="http://schemas.microsoft.com/office/drawing/2014/main" id="{BE42CD2C-678A-40F4-9B97-30844A5BB111}"/>
              </a:ext>
            </a:extLst>
          </p:cNvPr>
          <p:cNvSpPr>
            <a:spLocks noGrp="1"/>
          </p:cNvSpPr>
          <p:nvPr/>
        </p:nvSpPr>
        <p:spPr>
          <a:xfrm>
            <a:off x="960120" y="667512"/>
            <a:ext cx="77266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  <a:defRPr>
                <a:solidFill>
                  <a:srgbClr val="172B49"/>
                </a:solidFill>
              </a:defRPr>
            </a:pPr>
            <a:r>
              <a:rPr sz="1000" i="1">
                <a:solidFill>
                  <a:srgbClr val="172B49"/>
                </a:solidFill>
              </a:rPr>
              <a:t>Would the real user trust and act on your output tomorrow? What happens when it is wrong?</a:t>
            </a:r>
            <a:endParaRPr sz="1000"/>
          </a:p>
        </p:txBody>
      </p:sp>
      <p:sp>
        <p:nvSpPr>
          <p:cNvPr id="6" name="Label 3.1 How the user act">
            <a:extLst>
              <a:ext uri="{FF2B5EF4-FFF2-40B4-BE49-F238E27FC236}">
                <a16:creationId xmlns="" xmlns:a16="http://schemas.microsoft.com/office/drawing/2014/main" id="{233F5B41-DCA8-4692-82A6-999FBF841CAD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397764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1050" b="1">
                <a:solidFill>
                  <a:srgbClr val="087D78"/>
                </a:solidFill>
              </a:rPr>
              <a:t>3.1 How the user acts on the output (max 60 words)</a:t>
            </a:r>
            <a:endParaRPr sz="1050"/>
          </a:p>
        </p:txBody>
      </p:sp>
      <p:sp>
        <p:nvSpPr>
          <p:cNvPr id="7" name="Answer 3.1 How the user act">
            <a:extLst>
              <a:ext uri="{FF2B5EF4-FFF2-40B4-BE49-F238E27FC236}">
                <a16:creationId xmlns="" xmlns:a16="http://schemas.microsoft.com/office/drawing/2014/main" id="{11CFDF6D-764A-41F6-AE3E-B2D01C63948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7200" y="1234440"/>
            <a:ext cx="3977640" cy="3383280"/>
          </a:xfrm>
          <a:prstGeom prst="roundRect">
            <a:avLst>
              <a:gd name="adj" fmla="val 1622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5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8" name="Label 3.2 Safety, fairness">
            <a:extLst>
              <a:ext uri="{FF2B5EF4-FFF2-40B4-BE49-F238E27FC236}">
                <a16:creationId xmlns="" xmlns:a16="http://schemas.microsoft.com/office/drawing/2014/main" id="{822F4817-E9A1-4D7F-BF70-AAB19387F948}"/>
              </a:ext>
            </a:extLst>
          </p:cNvPr>
          <p:cNvSpPr>
            <a:spLocks noGrp="1"/>
          </p:cNvSpPr>
          <p:nvPr/>
        </p:nvSpPr>
        <p:spPr>
          <a:xfrm>
            <a:off x="4709160" y="960120"/>
            <a:ext cx="397764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1050" b="1">
                <a:solidFill>
                  <a:srgbClr val="087D78"/>
                </a:solidFill>
              </a:rPr>
              <a:t>3.2 Safety, fairness &amp; limitations (max 80 words)</a:t>
            </a:r>
            <a:endParaRPr sz="1050"/>
          </a:p>
        </p:txBody>
      </p:sp>
      <p:sp>
        <p:nvSpPr>
          <p:cNvPr id="9" name="Answer 3.2 Safety, fairness">
            <a:extLst>
              <a:ext uri="{FF2B5EF4-FFF2-40B4-BE49-F238E27FC236}">
                <a16:creationId xmlns="" xmlns:a16="http://schemas.microsoft.com/office/drawing/2014/main" id="{69FD89B9-3D1F-4D01-BCBF-F55BD5FE963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709160" y="1234440"/>
            <a:ext cx="3977640" cy="3383280"/>
          </a:xfrm>
          <a:prstGeom prst="roundRect">
            <a:avLst>
              <a:gd name="adj" fmla="val 1622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5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5" name="Slide Number Placeholder 0">
            <a:extLst>
              <a:ext uri="{FF2B5EF4-FFF2-40B4-BE49-F238E27FC236}">
                <a16:creationId xmlns="" xmlns:a16="http://schemas.microsoft.com/office/drawing/2014/main" id="{14391927-5E54-4C1F-8FF2-0E9B2D94E9F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chemeClr val="accent4"/>
                </a:solidFill>
              </a:defRPr>
            </a:lvl1pPr>
          </a:lstStyle>
          <a:p>
            <a:pPr algn="r">
              <a:buNone/>
              <a:defRPr>
                <a:solidFill>
                  <a:srgbClr val="087D78"/>
                </a:solidFill>
              </a:defRPr>
            </a:pPr>
            <a:fld id="{F7021451-1387-4CA6-816F-3879F97B5CBC}" type="slidenum">
              <a:rPr b="0">
                <a:solidFill>
                  <a:srgbClr val="087D78"/>
                </a:solidFill>
              </a:rPr>
              <a:t>4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11CEB45-0BE0-4E49-8122-6ED0C11ACE77}"/>
              </a:ext>
            </a:extLst>
          </p:cNvPr>
          <p:cNvSpPr>
            <a:spLocks noGrp="1"/>
          </p:cNvSpPr>
          <p:nvPr/>
        </p:nvSpPr>
        <p:spPr>
          <a:xfrm>
            <a:off x="5067299" y="4740158"/>
            <a:ext cx="34671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>
                <a:solidFill>
                  <a:srgbClr val="087D78"/>
                </a:solidFill>
              </a:defRPr>
            </a:pPr>
            <a:r>
              <a:rPr sz="1100">
                <a:solidFill>
                  <a:srgbClr val="087D78"/>
                </a:solidFill>
                <a:hlinkClick r:id="rId4"/>
              </a:rPr>
              <a:t>www.innosmart.in</a:t>
            </a:r>
            <a:r>
              <a:rPr sz="1100">
                <a:solidFill>
                  <a:srgbClr val="087D78"/>
                </a:solidFill>
              </a:rPr>
              <a:t>  | </a:t>
            </a:r>
            <a:r>
              <a:rPr sz="1100">
                <a:solidFill>
                  <a:srgbClr val="087D78"/>
                </a:solidFill>
                <a:hlinkClick r:id="rId5"/>
              </a:rPr>
              <a:t>www.talentap.in</a:t>
            </a:r>
            <a:r>
              <a:rPr sz="1100">
                <a:solidFill>
                  <a:srgbClr val="087D78"/>
                </a:solidFill>
              </a:rPr>
              <a:t>  |  </a:t>
            </a:r>
            <a:r>
              <a:rPr sz="1100">
                <a:solidFill>
                  <a:srgbClr val="087D78"/>
                </a:solidFill>
                <a:hlinkClick r:id="rId6"/>
              </a:rPr>
              <a:t>www.apdti.in</a:t>
            </a:r>
            <a:r>
              <a:rPr sz="1100">
                <a:solidFill>
                  <a:srgbClr val="087D78"/>
                </a:solidFill>
              </a:rPr>
              <a:t> </a:t>
            </a:r>
            <a:endParaRPr sz="11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560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>
            <a:extLst>
              <a:ext uri="{FF2B5EF4-FFF2-40B4-BE49-F238E27FC236}">
                <a16:creationId xmlns="" xmlns:a16="http://schemas.microsoft.com/office/drawing/2014/main" id="{37BD7F6E-F281-45DC-AC75-D090C46FDE3D}"/>
              </a:ext>
            </a:extLst>
          </p:cNvPr>
          <p:cNvSpPr>
            <a:spLocks noGrp="1"/>
          </p:cNvSpPr>
          <p:nvPr/>
        </p:nvSpPr>
        <p:spPr>
          <a:xfrm>
            <a:off x="457200" y="265176"/>
            <a:ext cx="393192" cy="393192"/>
          </a:xfrm>
          <a:prstGeom prst="ellipse">
            <a:avLst/>
          </a:prstGeom>
          <a:solidFill>
            <a:srgbClr val="B2EADC"/>
          </a:solidFill>
          <a:ln w="0">
            <a:noFill/>
          </a:ln>
        </p:spPr>
      </p:sp>
      <p:sp>
        <p:nvSpPr>
          <p:cNvPr id="3" name="Text 1">
            <a:extLst>
              <a:ext uri="{FF2B5EF4-FFF2-40B4-BE49-F238E27FC236}">
                <a16:creationId xmlns="" xmlns:a16="http://schemas.microsoft.com/office/drawing/2014/main" id="{FD04634A-BD42-424F-9B35-F9D8158E3C47}"/>
              </a:ext>
            </a:extLst>
          </p:cNvPr>
          <p:cNvSpPr>
            <a:spLocks noGrp="1"/>
          </p:cNvSpPr>
          <p:nvPr/>
        </p:nvSpPr>
        <p:spPr>
          <a:xfrm>
            <a:off x="457200" y="265176"/>
            <a:ext cx="393192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solidFill>
                  <a:srgbClr val="071A2D"/>
                </a:solidFill>
              </a:defRPr>
            </a:pPr>
            <a:r>
              <a:rPr sz="1200" b="1">
                <a:solidFill>
                  <a:srgbClr val="071A2D"/>
                </a:solidFill>
                <a:latin typeface="Arial"/>
                <a:ea typeface="Arial"/>
                <a:cs typeface="Arial"/>
              </a:rPr>
              <a:t>04</a:t>
            </a:r>
            <a:endParaRPr sz="1200"/>
          </a:p>
        </p:txBody>
      </p:sp>
      <p:sp>
        <p:nvSpPr>
          <p:cNvPr id="4" name="Text 0">
            <a:extLst>
              <a:ext uri="{FF2B5EF4-FFF2-40B4-BE49-F238E27FC236}">
                <a16:creationId xmlns="" xmlns:a16="http://schemas.microsoft.com/office/drawing/2014/main" id="{5075FDFB-0127-4330-899C-60B1A4A89320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960120" y="256032"/>
            <a:ext cx="77266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>
                <a:solidFill>
                  <a:srgbClr val="172B49"/>
                </a:solidFill>
              </a:defRPr>
            </a:pPr>
            <a:r>
              <a:rPr sz="2200" b="1">
                <a:solidFill>
                  <a:srgbClr val="172B49"/>
                </a:solidFill>
                <a:latin typeface="Arial"/>
                <a:ea typeface="Arial"/>
                <a:cs typeface="Arial"/>
              </a:rPr>
              <a:t>2-Day MVP Plan</a:t>
            </a:r>
            <a:endParaRPr sz="2200"/>
          </a:p>
        </p:txBody>
      </p:sp>
      <p:sp>
        <p:nvSpPr>
          <p:cNvPr id="5" name="Text 3">
            <a:extLst>
              <a:ext uri="{FF2B5EF4-FFF2-40B4-BE49-F238E27FC236}">
                <a16:creationId xmlns="" xmlns:a16="http://schemas.microsoft.com/office/drawing/2014/main" id="{1CAB89D2-9585-4B7E-AC9F-1F53110ADA3C}"/>
              </a:ext>
            </a:extLst>
          </p:cNvPr>
          <p:cNvSpPr>
            <a:spLocks noGrp="1"/>
          </p:cNvSpPr>
          <p:nvPr/>
        </p:nvSpPr>
        <p:spPr>
          <a:xfrm>
            <a:off x="960120" y="667512"/>
            <a:ext cx="77266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  <a:defRPr>
                <a:solidFill>
                  <a:srgbClr val="172B49"/>
                </a:solidFill>
              </a:defRPr>
            </a:pPr>
            <a:r>
              <a:rPr sz="1000" i="1">
                <a:solidFill>
                  <a:srgbClr val="172B49"/>
                </a:solidFill>
              </a:rPr>
              <a:t>What you will have working at the final demo — be realistic. UI polish is not the focus.</a:t>
            </a:r>
            <a:endParaRPr sz="1000"/>
          </a:p>
        </p:txBody>
      </p:sp>
      <p:sp>
        <p:nvSpPr>
          <p:cNvPr id="6" name="Label 4.1 What you will de">
            <a:extLst>
              <a:ext uri="{FF2B5EF4-FFF2-40B4-BE49-F238E27FC236}">
                <a16:creationId xmlns="" xmlns:a16="http://schemas.microsoft.com/office/drawing/2014/main" id="{C2F02274-1171-475A-9392-5A26C88CAF4B}"/>
              </a:ext>
            </a:extLst>
          </p:cNvPr>
          <p:cNvSpPr>
            <a:spLocks noGrp="1"/>
          </p:cNvSpPr>
          <p:nvPr/>
        </p:nvSpPr>
        <p:spPr>
          <a:xfrm>
            <a:off x="457200" y="96012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1050" b="1">
                <a:solidFill>
                  <a:srgbClr val="087D78"/>
                </a:solidFill>
              </a:rPr>
              <a:t>4.1 What you will demo at the end of Day 2</a:t>
            </a:r>
            <a:endParaRPr sz="1050"/>
          </a:p>
        </p:txBody>
      </p:sp>
      <p:sp>
        <p:nvSpPr>
          <p:cNvPr id="7" name="Answer 4.1 What you will de">
            <a:extLst>
              <a:ext uri="{FF2B5EF4-FFF2-40B4-BE49-F238E27FC236}">
                <a16:creationId xmlns="" xmlns:a16="http://schemas.microsoft.com/office/drawing/2014/main" id="{C0C46B53-4B9B-4E82-B7FD-45ECEA2DE63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7200" y="1234440"/>
            <a:ext cx="8229600" cy="3383280"/>
          </a:xfrm>
          <a:prstGeom prst="roundRect">
            <a:avLst>
              <a:gd name="adj" fmla="val 1622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5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5" name="Slide Number Placeholder 0">
            <a:extLst>
              <a:ext uri="{FF2B5EF4-FFF2-40B4-BE49-F238E27FC236}">
                <a16:creationId xmlns="" xmlns:a16="http://schemas.microsoft.com/office/drawing/2014/main" id="{FD8E9A9C-2188-435E-BE21-18D8AF77578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chemeClr val="accent4"/>
                </a:solidFill>
              </a:defRPr>
            </a:lvl1pPr>
          </a:lstStyle>
          <a:p>
            <a:pPr algn="r">
              <a:buNone/>
              <a:defRPr>
                <a:solidFill>
                  <a:srgbClr val="087D78"/>
                </a:solidFill>
              </a:defRPr>
            </a:pPr>
            <a:fld id="{F7021451-1387-4CA6-816F-3879F97B5CBC}" type="slidenum">
              <a:rPr b="0">
                <a:solidFill>
                  <a:srgbClr val="087D78"/>
                </a:solidFill>
              </a:rPr>
              <a:t>5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7A42982-741C-4A28-BCD7-B0F778344A5A}"/>
              </a:ext>
            </a:extLst>
          </p:cNvPr>
          <p:cNvSpPr>
            <a:spLocks noGrp="1"/>
          </p:cNvSpPr>
          <p:nvPr/>
        </p:nvSpPr>
        <p:spPr>
          <a:xfrm>
            <a:off x="5067299" y="4740158"/>
            <a:ext cx="34671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>
                <a:solidFill>
                  <a:srgbClr val="087D78"/>
                </a:solidFill>
              </a:defRPr>
            </a:pPr>
            <a:r>
              <a:rPr sz="1100">
                <a:solidFill>
                  <a:srgbClr val="087D78"/>
                </a:solidFill>
                <a:hlinkClick r:id="rId4"/>
              </a:rPr>
              <a:t>www.innosmart.in</a:t>
            </a:r>
            <a:r>
              <a:rPr sz="1100">
                <a:solidFill>
                  <a:srgbClr val="087D78"/>
                </a:solidFill>
              </a:rPr>
              <a:t>  | </a:t>
            </a:r>
            <a:r>
              <a:rPr sz="1100">
                <a:solidFill>
                  <a:srgbClr val="087D78"/>
                </a:solidFill>
                <a:hlinkClick r:id="rId5"/>
              </a:rPr>
              <a:t>www.talentap.in</a:t>
            </a:r>
            <a:r>
              <a:rPr sz="1100">
                <a:solidFill>
                  <a:srgbClr val="087D78"/>
                </a:solidFill>
              </a:rPr>
              <a:t>  |  </a:t>
            </a:r>
            <a:r>
              <a:rPr sz="1100">
                <a:solidFill>
                  <a:srgbClr val="087D78"/>
                </a:solidFill>
                <a:hlinkClick r:id="rId6"/>
              </a:rPr>
              <a:t>www.apdti.in</a:t>
            </a:r>
            <a:r>
              <a:rPr sz="1100">
                <a:solidFill>
                  <a:srgbClr val="087D78"/>
                </a:solidFill>
              </a:rPr>
              <a:t> </a:t>
            </a:r>
            <a:endParaRPr sz="11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23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>
            <a:extLst>
              <a:ext uri="{FF2B5EF4-FFF2-40B4-BE49-F238E27FC236}">
                <a16:creationId xmlns="" xmlns:a16="http://schemas.microsoft.com/office/drawing/2014/main" id="{764E8071-8392-4A67-AF5F-DBD2723503C4}"/>
              </a:ext>
            </a:extLst>
          </p:cNvPr>
          <p:cNvSpPr>
            <a:spLocks noGrp="1"/>
          </p:cNvSpPr>
          <p:nvPr/>
        </p:nvSpPr>
        <p:spPr>
          <a:xfrm>
            <a:off x="457200" y="548640"/>
            <a:ext cx="393192" cy="393192"/>
          </a:xfrm>
          <a:prstGeom prst="ellipse">
            <a:avLst/>
          </a:prstGeom>
          <a:solidFill>
            <a:srgbClr val="B2EADC"/>
          </a:solidFill>
          <a:ln w="0">
            <a:noFill/>
          </a:ln>
        </p:spPr>
      </p:sp>
      <p:sp>
        <p:nvSpPr>
          <p:cNvPr id="3" name="Text 1">
            <a:extLst>
              <a:ext uri="{FF2B5EF4-FFF2-40B4-BE49-F238E27FC236}">
                <a16:creationId xmlns="" xmlns:a16="http://schemas.microsoft.com/office/drawing/2014/main" id="{C0F2BE46-42DF-4D8D-B20C-DEE9ACC803E3}"/>
              </a:ext>
            </a:extLst>
          </p:cNvPr>
          <p:cNvSpPr>
            <a:spLocks noGrp="1"/>
          </p:cNvSpPr>
          <p:nvPr/>
        </p:nvSpPr>
        <p:spPr>
          <a:xfrm>
            <a:off x="457200" y="548640"/>
            <a:ext cx="393192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solidFill>
                  <a:srgbClr val="071A2D"/>
                </a:solidFill>
              </a:defRPr>
            </a:pPr>
            <a:r>
              <a:rPr sz="1200" b="1">
                <a:solidFill>
                  <a:srgbClr val="071A2D"/>
                </a:solidFill>
              </a:rPr>
              <a:t>05</a:t>
            </a:r>
            <a:endParaRPr sz="1200"/>
          </a:p>
        </p:txBody>
      </p:sp>
      <p:sp>
        <p:nvSpPr>
          <p:cNvPr id="4" name="Text 2">
            <a:extLst>
              <a:ext uri="{FF2B5EF4-FFF2-40B4-BE49-F238E27FC236}">
                <a16:creationId xmlns="" xmlns:a16="http://schemas.microsoft.com/office/drawing/2014/main" id="{5BE83A9D-340C-4183-8CCB-DCC104C4CCBD}"/>
              </a:ext>
            </a:extLst>
          </p:cNvPr>
          <p:cNvSpPr>
            <a:spLocks noGrp="1"/>
          </p:cNvSpPr>
          <p:nvPr/>
        </p:nvSpPr>
        <p:spPr>
          <a:xfrm>
            <a:off x="960120" y="52120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solidFill>
                  <a:srgbClr val="172B49"/>
                </a:solidFill>
              </a:defRPr>
            </a:pPr>
            <a:r>
              <a:rPr sz="2200" b="1">
                <a:solidFill>
                  <a:srgbClr val="172B49"/>
                </a:solidFill>
                <a:latin typeface="Arial"/>
                <a:ea typeface="Arial"/>
                <a:cs typeface="Arial"/>
              </a:rPr>
              <a:t>Declaration</a:t>
            </a:r>
            <a:endParaRPr sz="2200"/>
          </a:p>
        </p:txBody>
      </p:sp>
      <p:sp>
        <p:nvSpPr>
          <p:cNvPr id="5" name="Text 3">
            <a:extLst>
              <a:ext uri="{FF2B5EF4-FFF2-40B4-BE49-F238E27FC236}">
                <a16:creationId xmlns="" xmlns:a16="http://schemas.microsoft.com/office/drawing/2014/main" id="{D47804E6-42C2-43A0-ADE6-B28966274839}"/>
              </a:ext>
            </a:extLst>
          </p:cNvPr>
          <p:cNvSpPr>
            <a:spLocks noGrp="1"/>
          </p:cNvSpPr>
          <p:nvPr/>
        </p:nvSpPr>
        <p:spPr>
          <a:xfrm>
            <a:off x="960120" y="96012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1000" i="1">
                <a:solidFill>
                  <a:srgbClr val="087D78"/>
                </a:solidFill>
              </a:rPr>
              <a:t>Replace each ☐ with ☑ to confirm.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="" xmlns:a16="http://schemas.microsoft.com/office/drawing/2014/main" id="{4BC96B4F-4846-4B97-B261-599C6D4CB66E}"/>
              </a:ext>
            </a:extLst>
          </p:cNvPr>
          <p:cNvSpPr>
            <a:spLocks noGrp="1"/>
          </p:cNvSpPr>
          <p:nvPr/>
        </p:nvSpPr>
        <p:spPr>
          <a:xfrm>
            <a:off x="638175" y="1417320"/>
            <a:ext cx="4573905" cy="2834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spcAft>
                <a:spcPts val="900"/>
              </a:spcAft>
              <a:buNone/>
              <a:defRPr>
                <a:solidFill>
                  <a:srgbClr val="283B50"/>
                </a:solidFill>
              </a:defRPr>
            </a:pPr>
            <a:r>
              <a:rPr sz="1100">
                <a:solidFill>
                  <a:srgbClr val="283B50"/>
                </a:solidFill>
              </a:rPr>
              <a:t>All members are current students of colleges in Andhra Pradesh (no passouts).</a:t>
            </a:r>
            <a:endParaRPr sz="1100"/>
          </a:p>
          <a:p>
            <a:pPr marL="0" indent="0">
              <a:spcAft>
                <a:spcPts val="900"/>
              </a:spcAft>
              <a:buNone/>
              <a:defRPr>
                <a:solidFill>
                  <a:srgbClr val="283B50"/>
                </a:solidFill>
              </a:defRPr>
            </a:pPr>
            <a:r>
              <a:rPr sz="1100">
                <a:solidFill>
                  <a:srgbClr val="283B50"/>
                </a:solidFill>
              </a:rPr>
              <a:t>Each member is part of this team only.</a:t>
            </a:r>
            <a:endParaRPr sz="1100"/>
          </a:p>
          <a:p>
            <a:pPr marL="0" indent="0">
              <a:spcAft>
                <a:spcPts val="900"/>
              </a:spcAft>
              <a:buNone/>
              <a:defRPr>
                <a:solidFill>
                  <a:srgbClr val="283B50"/>
                </a:solidFill>
              </a:defRPr>
            </a:pPr>
            <a:r>
              <a:rPr sz="1100">
                <a:solidFill>
                  <a:srgbClr val="283B50"/>
                </a:solidFill>
              </a:rPr>
              <a:t>This idea is our own work.</a:t>
            </a:r>
            <a:endParaRPr sz="1100"/>
          </a:p>
          <a:p>
            <a:pPr marL="0" indent="0">
              <a:spcAft>
                <a:spcPts val="900"/>
              </a:spcAft>
              <a:buNone/>
              <a:defRPr>
                <a:solidFill>
                  <a:srgbClr val="283B50"/>
                </a:solidFill>
              </a:defRPr>
            </a:pPr>
            <a:r>
              <a:rPr sz="1100">
                <a:solidFill>
                  <a:srgbClr val="283B50"/>
                </a:solidFill>
              </a:rPr>
              <a:t>We will bring no pre-built code. Our repository will be created at kickoff.</a:t>
            </a:r>
            <a:endParaRPr sz="1100"/>
          </a:p>
          <a:p>
            <a:pPr marL="0" indent="0">
              <a:spcAft>
                <a:spcPts val="900"/>
              </a:spcAft>
              <a:buNone/>
              <a:defRPr>
                <a:solidFill>
                  <a:srgbClr val="283B50"/>
                </a:solidFill>
              </a:defRPr>
            </a:pPr>
            <a:r>
              <a:rPr sz="1100">
                <a:solidFill>
                  <a:srgbClr val="283B50"/>
                </a:solidFill>
              </a:rPr>
              <a:t>We will use only the synthetic data and model access provided by the organisers.</a:t>
            </a:r>
            <a:endParaRPr sz="1100"/>
          </a:p>
          <a:p>
            <a:pPr marL="0" indent="0">
              <a:spcAft>
                <a:spcPts val="900"/>
              </a:spcAft>
              <a:buNone/>
              <a:defRPr>
                <a:solidFill>
                  <a:srgbClr val="283B50"/>
                </a:solidFill>
              </a:defRPr>
            </a:pPr>
            <a:r>
              <a:rPr sz="1100">
                <a:solidFill>
                  <a:srgbClr val="283B50"/>
                </a:solidFill>
              </a:rPr>
              <a:t>We are available for the hackathon on 30–31 October 2026.</a:t>
            </a:r>
            <a:endParaRPr sz="1100"/>
          </a:p>
        </p:txBody>
      </p:sp>
      <p:sp>
        <p:nvSpPr>
          <p:cNvPr id="7" name="Label AI tools used for th">
            <a:extLst>
              <a:ext uri="{FF2B5EF4-FFF2-40B4-BE49-F238E27FC236}">
                <a16:creationId xmlns="" xmlns:a16="http://schemas.microsoft.com/office/drawing/2014/main" id="{9AB949B6-163E-4538-B764-B8E3EBA844A6}"/>
              </a:ext>
            </a:extLst>
          </p:cNvPr>
          <p:cNvSpPr>
            <a:spLocks noGrp="1"/>
          </p:cNvSpPr>
          <p:nvPr/>
        </p:nvSpPr>
        <p:spPr>
          <a:xfrm>
            <a:off x="5486400" y="141732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1050" b="1">
                <a:solidFill>
                  <a:srgbClr val="087D78"/>
                </a:solidFill>
              </a:rPr>
              <a:t>AI tools used for this deck (if any)</a:t>
            </a:r>
            <a:endParaRPr sz="1050"/>
          </a:p>
        </p:txBody>
      </p:sp>
      <p:sp>
        <p:nvSpPr>
          <p:cNvPr id="8" name="Answer AI tools used for th">
            <a:extLst>
              <a:ext uri="{FF2B5EF4-FFF2-40B4-BE49-F238E27FC236}">
                <a16:creationId xmlns="" xmlns:a16="http://schemas.microsoft.com/office/drawing/2014/main" id="{5C307A53-EE06-4222-B1AB-B5F317FA439A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486400" y="1691640"/>
            <a:ext cx="3200400" cy="960120"/>
          </a:xfrm>
          <a:prstGeom prst="roundRect">
            <a:avLst>
              <a:gd name="adj" fmla="val 5714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5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9" name="Label Team Lead name &amp;amp; dat">
            <a:extLst>
              <a:ext uri="{FF2B5EF4-FFF2-40B4-BE49-F238E27FC236}">
                <a16:creationId xmlns="" xmlns:a16="http://schemas.microsoft.com/office/drawing/2014/main" id="{55FEA78C-2742-43BE-9178-7CC183474D94}"/>
              </a:ext>
            </a:extLst>
          </p:cNvPr>
          <p:cNvSpPr>
            <a:spLocks noGrp="1"/>
          </p:cNvSpPr>
          <p:nvPr/>
        </p:nvSpPr>
        <p:spPr>
          <a:xfrm>
            <a:off x="5486400" y="278892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  <a:defRPr>
                <a:solidFill>
                  <a:srgbClr val="087D78"/>
                </a:solidFill>
              </a:defRPr>
            </a:pPr>
            <a:r>
              <a:rPr sz="1050" b="1">
                <a:solidFill>
                  <a:srgbClr val="087D78"/>
                </a:solidFill>
              </a:rPr>
              <a:t>Team Lead name &amp; date</a:t>
            </a:r>
            <a:endParaRPr sz="1050"/>
          </a:p>
        </p:txBody>
      </p:sp>
      <p:sp>
        <p:nvSpPr>
          <p:cNvPr id="10" name="Answer Team Lead name &amp;amp; dat">
            <a:extLst>
              <a:ext uri="{FF2B5EF4-FFF2-40B4-BE49-F238E27FC236}">
                <a16:creationId xmlns="" xmlns:a16="http://schemas.microsoft.com/office/drawing/2014/main" id="{FB65BA17-370C-4ACA-96B2-16D0C458111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486400" y="306324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F3F8FC"/>
          </a:solidFill>
          <a:ln w="7620">
            <a:solidFill>
              <a:srgbClr val="CBDDE8"/>
            </a:solidFill>
          </a:ln>
        </p:spPr>
        <p:txBody>
          <a:bodyPr wrap="square" lIns="76200" tIns="101600" rIns="101600" bIns="76200" anchor="t">
            <a:normAutofit/>
          </a:bodyPr>
          <a:lstStyle/>
          <a:p>
            <a:pPr marL="0" indent="0" algn="l">
              <a:buNone/>
              <a:defRPr sz="105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="" xmlns:a16="http://schemas.microsoft.com/office/drawing/2014/main" id="{059F18D9-7075-4B1C-84D9-C938EB45297E}"/>
              </a:ext>
            </a:extLst>
          </p:cNvPr>
          <p:cNvSpPr>
            <a:spLocks noGrp="1"/>
          </p:cNvSpPr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  <a:defRPr>
                <a:solidFill>
                  <a:srgbClr val="087D78"/>
                </a:solidFill>
              </a:defRPr>
            </a:pPr>
            <a:r>
              <a:rPr sz="850">
                <a:solidFill>
                  <a:srgbClr val="087D78"/>
                </a:solidFill>
              </a:rPr>
              <a:t>Questions: @</a:t>
            </a:r>
            <a:r>
              <a:rPr sz="900">
                <a:solidFill>
                  <a:srgbClr val="087D78"/>
                </a:solidFill>
                <a:hlinkClick r:id="rId4"/>
              </a:rPr>
              <a:t>secretariat@talentap.in</a:t>
            </a:r>
            <a:r>
              <a:rPr sz="850">
                <a:solidFill>
                  <a:srgbClr val="087D78"/>
                </a:solidFill>
              </a:rPr>
              <a:t>  ·  Talent AP, Dwaraka Nagar, Visakhapatnam</a:t>
            </a:r>
            <a:endParaRPr sz="85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F596DAB-9F33-4621-95EA-2B1C89163AFD}"/>
              </a:ext>
            </a:extLst>
          </p:cNvPr>
          <p:cNvSpPr>
            <a:spLocks noGrp="1"/>
          </p:cNvSpPr>
          <p:nvPr/>
        </p:nvSpPr>
        <p:spPr>
          <a:xfrm>
            <a:off x="558799" y="4181358"/>
            <a:ext cx="34671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>
                <a:solidFill>
                  <a:srgbClr val="087D78"/>
                </a:solidFill>
              </a:defRPr>
            </a:pPr>
            <a:r>
              <a:rPr sz="1100">
                <a:solidFill>
                  <a:srgbClr val="087D78"/>
                </a:solidFill>
                <a:hlinkClick r:id="rId5"/>
              </a:rPr>
              <a:t>www.innosmart.in</a:t>
            </a:r>
            <a:r>
              <a:rPr sz="1100">
                <a:solidFill>
                  <a:srgbClr val="087D78"/>
                </a:solidFill>
              </a:rPr>
              <a:t>  | </a:t>
            </a:r>
            <a:r>
              <a:rPr sz="1100">
                <a:solidFill>
                  <a:srgbClr val="087D78"/>
                </a:solidFill>
                <a:hlinkClick r:id="rId6"/>
              </a:rPr>
              <a:t>www.talentap.in</a:t>
            </a:r>
            <a:r>
              <a:rPr sz="1100">
                <a:solidFill>
                  <a:srgbClr val="087D78"/>
                </a:solidFill>
              </a:rPr>
              <a:t>  |  </a:t>
            </a:r>
            <a:r>
              <a:rPr sz="1100">
                <a:solidFill>
                  <a:srgbClr val="087D78"/>
                </a:solidFill>
                <a:hlinkClick r:id="rId7"/>
              </a:rPr>
              <a:t>www.apdti.in</a:t>
            </a:r>
            <a:r>
              <a:rPr sz="1100">
                <a:solidFill>
                  <a:srgbClr val="087D78"/>
                </a:solidFill>
              </a:rPr>
              <a:t> </a:t>
            </a:r>
            <a:endParaRPr sz="11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0" name="Declaration checkbox 1">
            <a:extLst>
              <a:ext uri="{FF2B5EF4-FFF2-40B4-BE49-F238E27FC236}">
                <a16:creationId xmlns="" xmlns:a16="http://schemas.microsoft.com/office/drawing/2014/main" id="{4BC96B4F-4846-4B97-B261-599C6D4CB66E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171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spcAft>
                <a:spcPts val="900"/>
              </a:spcAft>
              <a:buNone/>
              <a:defRPr>
                <a:solidFill>
                  <a:srgbClr val="283B50"/>
                </a:solidFill>
              </a:defRPr>
            </a:pPr>
            <a:r>
              <a:rPr sz="1600">
                <a:solidFill>
                  <a:srgbClr val="283B50"/>
                </a:solidFill>
                <a:latin typeface="Segoe UI Symbol"/>
              </a:rPr>
              <a:t>☐</a:t>
            </a:r>
          </a:p>
        </p:txBody>
      </p:sp>
      <p:sp>
        <p:nvSpPr>
          <p:cNvPr id="201" name="Declaration checkbox 2">
            <a:extLst>
              <a:ext uri="{FF2B5EF4-FFF2-40B4-BE49-F238E27FC236}">
                <a16:creationId xmlns="" xmlns:a16="http://schemas.microsoft.com/office/drawing/2014/main" id="{4BC96B4F-4846-4B97-B261-599C6D4CB66E}"/>
              </a:ext>
            </a:extLst>
          </p:cNvPr>
          <p:cNvSpPr>
            <a:spLocks noGrp="1"/>
          </p:cNvSpPr>
          <p:nvPr/>
        </p:nvSpPr>
        <p:spPr>
          <a:xfrm>
            <a:off x="457200" y="1703070"/>
            <a:ext cx="171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spcAft>
                <a:spcPts val="900"/>
              </a:spcAft>
              <a:buNone/>
              <a:defRPr>
                <a:solidFill>
                  <a:srgbClr val="283B50"/>
                </a:solidFill>
              </a:defRPr>
            </a:pPr>
            <a:r>
              <a:rPr sz="1600">
                <a:solidFill>
                  <a:srgbClr val="283B50"/>
                </a:solidFill>
                <a:latin typeface="Segoe UI Symbol"/>
              </a:rPr>
              <a:t>☐</a:t>
            </a:r>
          </a:p>
        </p:txBody>
      </p:sp>
      <p:sp>
        <p:nvSpPr>
          <p:cNvPr id="202" name="Declaration checkbox 3">
            <a:extLst>
              <a:ext uri="{FF2B5EF4-FFF2-40B4-BE49-F238E27FC236}">
                <a16:creationId xmlns="" xmlns:a16="http://schemas.microsoft.com/office/drawing/2014/main" id="{4BC96B4F-4846-4B97-B261-599C6D4CB66E}"/>
              </a:ext>
            </a:extLst>
          </p:cNvPr>
          <p:cNvSpPr>
            <a:spLocks noGrp="1"/>
          </p:cNvSpPr>
          <p:nvPr/>
        </p:nvSpPr>
        <p:spPr>
          <a:xfrm>
            <a:off x="457200" y="1988820"/>
            <a:ext cx="171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spcAft>
                <a:spcPts val="900"/>
              </a:spcAft>
              <a:buNone/>
              <a:defRPr>
                <a:solidFill>
                  <a:srgbClr val="283B50"/>
                </a:solidFill>
              </a:defRPr>
            </a:pPr>
            <a:r>
              <a:rPr sz="1600">
                <a:solidFill>
                  <a:srgbClr val="283B50"/>
                </a:solidFill>
                <a:latin typeface="Segoe UI Symbol"/>
              </a:rPr>
              <a:t>☐</a:t>
            </a:r>
          </a:p>
        </p:txBody>
      </p:sp>
      <p:sp>
        <p:nvSpPr>
          <p:cNvPr id="203" name="Declaration checkbox 4">
            <a:extLst>
              <a:ext uri="{FF2B5EF4-FFF2-40B4-BE49-F238E27FC236}">
                <a16:creationId xmlns="" xmlns:a16="http://schemas.microsoft.com/office/drawing/2014/main" id="{4BC96B4F-4846-4B97-B261-599C6D4CB66E}"/>
              </a:ext>
            </a:extLst>
          </p:cNvPr>
          <p:cNvSpPr>
            <a:spLocks noGrp="1"/>
          </p:cNvSpPr>
          <p:nvPr/>
        </p:nvSpPr>
        <p:spPr>
          <a:xfrm>
            <a:off x="457200" y="2274570"/>
            <a:ext cx="171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spcAft>
                <a:spcPts val="900"/>
              </a:spcAft>
              <a:buNone/>
              <a:defRPr>
                <a:solidFill>
                  <a:srgbClr val="283B50"/>
                </a:solidFill>
              </a:defRPr>
            </a:pPr>
            <a:r>
              <a:rPr sz="1600">
                <a:solidFill>
                  <a:srgbClr val="283B50"/>
                </a:solidFill>
                <a:latin typeface="Segoe UI Symbol"/>
              </a:rPr>
              <a:t>☐</a:t>
            </a:r>
          </a:p>
        </p:txBody>
      </p:sp>
      <p:sp>
        <p:nvSpPr>
          <p:cNvPr id="204" name="Declaration checkbox 5">
            <a:extLst>
              <a:ext uri="{FF2B5EF4-FFF2-40B4-BE49-F238E27FC236}">
                <a16:creationId xmlns="" xmlns:a16="http://schemas.microsoft.com/office/drawing/2014/main" id="{4BC96B4F-4846-4B97-B261-599C6D4CB66E}"/>
              </a:ext>
            </a:extLst>
          </p:cNvPr>
          <p:cNvSpPr>
            <a:spLocks noGrp="1"/>
          </p:cNvSpPr>
          <p:nvPr/>
        </p:nvSpPr>
        <p:spPr>
          <a:xfrm>
            <a:off x="457200" y="2560320"/>
            <a:ext cx="171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spcAft>
                <a:spcPts val="900"/>
              </a:spcAft>
              <a:buNone/>
              <a:defRPr>
                <a:solidFill>
                  <a:srgbClr val="283B50"/>
                </a:solidFill>
              </a:defRPr>
            </a:pPr>
            <a:r>
              <a:rPr sz="1600">
                <a:solidFill>
                  <a:srgbClr val="283B50"/>
                </a:solidFill>
                <a:latin typeface="Segoe UI Symbol"/>
              </a:rPr>
              <a:t>☐</a:t>
            </a:r>
          </a:p>
        </p:txBody>
      </p:sp>
      <p:sp>
        <p:nvSpPr>
          <p:cNvPr id="205" name="Declaration checkbox 6">
            <a:extLst>
              <a:ext uri="{FF2B5EF4-FFF2-40B4-BE49-F238E27FC236}">
                <a16:creationId xmlns="" xmlns:a16="http://schemas.microsoft.com/office/drawing/2014/main" id="{4BC96B4F-4846-4B97-B261-599C6D4CB66E}"/>
              </a:ext>
            </a:extLst>
          </p:cNvPr>
          <p:cNvSpPr>
            <a:spLocks noGrp="1"/>
          </p:cNvSpPr>
          <p:nvPr/>
        </p:nvSpPr>
        <p:spPr>
          <a:xfrm>
            <a:off x="457200" y="2846070"/>
            <a:ext cx="171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spcAft>
                <a:spcPts val="900"/>
              </a:spcAft>
              <a:buNone/>
              <a:defRPr>
                <a:solidFill>
                  <a:srgbClr val="283B50"/>
                </a:solidFill>
              </a:defRPr>
            </a:pPr>
            <a:r>
              <a:rPr sz="1600">
                <a:solidFill>
                  <a:srgbClr val="283B50"/>
                </a:solidFill>
                <a:latin typeface="Segoe UI Symbol"/>
              </a:rPr>
              <a:t>☐</a:t>
            </a:r>
          </a:p>
        </p:txBody>
      </p:sp>
    </p:spTree>
    <p:extLst>
      <p:ext uri="{BB962C8B-B14F-4D97-AF65-F5344CB8AC3E}">
        <p14:creationId xmlns:p14="http://schemas.microsoft.com/office/powerpoint/2010/main" val="1886556400"/>
      </p:ext>
    </p:extLst>
  </p:cSld>
  <p:clrMapOvr>
    <a:masterClrMapping/>
  </p:clrMapOvr>
</p:sld>
</file>

<file path=ppt/theme/theme1.xml><?xml version="1.0" encoding="utf-8"?>
<a:theme xmlns:a="http://schemas.openxmlformats.org/drawingml/2006/main" name="Mega Hackathon 2026">
  <a:themeElements>
    <a:clrScheme name="Mega Hackathon 2026">
      <a:dk1>
        <a:srgbClr val="1F2937"/>
      </a:dk1>
      <a:lt1>
        <a:srgbClr val="FFFFFF"/>
      </a:lt1>
      <a:dk2>
        <a:srgbClr val="1E2257"/>
      </a:dk2>
      <a:lt2>
        <a:srgbClr val="EEF0F8"/>
      </a:lt2>
      <a:accent1>
        <a:srgbClr val="F4A300"/>
      </a:accent1>
      <a:accent2>
        <a:srgbClr val="13A89E"/>
      </a:accent2>
      <a:accent3>
        <a:srgbClr val="1E2257"/>
      </a:accent3>
      <a:accent4>
        <a:srgbClr val="6B7280"/>
      </a:accent4>
      <a:accent5>
        <a:srgbClr val="C7CCE8"/>
      </a:accent5>
      <a:accent6>
        <a:srgbClr val="E4572E"/>
      </a:accent6>
      <a:hlink>
        <a:srgbClr val="13A89E"/>
      </a:hlink>
      <a:folHlink>
        <a:srgbClr val="6B7280"/>
      </a:folHlink>
    </a:clrScheme>
    <a:fontScheme name="Mega Hackathon 202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ega Hackathon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ega Hackathon 2026">
  <a:themeElements>
    <a:clrScheme name="Mega Hackathon 2026">
      <a:dk1>
        <a:srgbClr val="1F2937"/>
      </a:dk1>
      <a:lt1>
        <a:srgbClr val="FFFFFF"/>
      </a:lt1>
      <a:dk2>
        <a:srgbClr val="1E2257"/>
      </a:dk2>
      <a:lt2>
        <a:srgbClr val="EEF0F8"/>
      </a:lt2>
      <a:accent1>
        <a:srgbClr val="F4A300"/>
      </a:accent1>
      <a:accent2>
        <a:srgbClr val="13A89E"/>
      </a:accent2>
      <a:accent3>
        <a:srgbClr val="1E2257"/>
      </a:accent3>
      <a:accent4>
        <a:srgbClr val="6B7280"/>
      </a:accent4>
      <a:accent5>
        <a:srgbClr val="C7CCE8"/>
      </a:accent5>
      <a:accent6>
        <a:srgbClr val="E4572E"/>
      </a:accent6>
      <a:hlink>
        <a:srgbClr val="13A89E"/>
      </a:hlink>
      <a:folHlink>
        <a:srgbClr val="6B7280"/>
      </a:folHlink>
    </a:clrScheme>
    <a:fontScheme name="Mega Hackathon 202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ega Hackathon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455</Words>
  <Application>Microsoft Office PowerPoint</Application>
  <DocSecurity>0</DocSecurity>
  <PresentationFormat>On-screen Show (16:9)</PresentationFormat>
  <Paragraphs>66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Mega Hackathon 2026</vt:lpstr>
      <vt:lpstr>PowerPoint Presentation</vt:lpstr>
      <vt:lpstr>Problem Understanding</vt:lpstr>
      <vt:lpstr>Solution &amp; Technical Approach</vt:lpstr>
      <vt:lpstr>Usability &amp; Responsible AI</vt:lpstr>
      <vt:lpstr>2-Day MVP Plan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nimaiuser</cp:lastModifiedBy>
  <cp:revision>4</cp:revision>
  <dcterms:created xsi:type="dcterms:W3CDTF">2026-10-02T07:24:08Z</dcterms:created>
  <dcterms:modified xsi:type="dcterms:W3CDTF">2026-10-02T08:09:59Z</dcterms:modified>
</cp:coreProperties>
</file>