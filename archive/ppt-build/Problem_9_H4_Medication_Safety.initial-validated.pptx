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57b1001bb542e4" /><Relationship Type="http://schemas.openxmlformats.org/officeDocument/2006/relationships/extended-properties" Target="/docProps/app.xml" Id="R0040c02d55874761" /><Relationship Type="http://schemas.openxmlformats.org/officeDocument/2006/relationships/officeDocument" Target="/ppt/presentation.xml" Id="R5dc255cd338942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bb505ed6ed4f08"/>
  </p:sldMasterIdLst>
  <p:notesMasterIdLst>
    <p:notesMasterId xmlns:r="http://schemas.openxmlformats.org/officeDocument/2006/relationships" r:id="R36506c119a5a431e"/>
  </p:notesMasterIdLst>
  <p:sldIdLst>
    <p:sldId xmlns:r="http://schemas.openxmlformats.org/officeDocument/2006/relationships" id="256" r:id="R370d55797ef64318"/>
    <p:sldId xmlns:r="http://schemas.openxmlformats.org/officeDocument/2006/relationships" id="257" r:id="R5d4ab16450324abc"/>
    <p:sldId xmlns:r="http://schemas.openxmlformats.org/officeDocument/2006/relationships" id="258" r:id="R377d64a69e1e40ef"/>
    <p:sldId xmlns:r="http://schemas.openxmlformats.org/officeDocument/2006/relationships" id="259" r:id="R2bdd206369cd4a16"/>
    <p:sldId xmlns:r="http://schemas.openxmlformats.org/officeDocument/2006/relationships" id="260" r:id="R326d9c87d41d43fa"/>
    <p:sldId xmlns:r="http://schemas.openxmlformats.org/officeDocument/2006/relationships" id="261" r:id="R9f77fbb110c1454f"/>
    <p:sldId xmlns:r="http://schemas.openxmlformats.org/officeDocument/2006/relationships" id="262" r:id="R824ddf0baf9045af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ffe89ea8324141" /><Relationship Type="http://schemas.openxmlformats.org/officeDocument/2006/relationships/slideMaster" Target="/ppt/slideMasters/slideMaster1.xml" Id="R14bb505ed6ed4f08" /><Relationship Type="http://schemas.openxmlformats.org/officeDocument/2006/relationships/notesMaster" Target="/ppt/notesMasters/notesMaster1.xml" Id="R36506c119a5a431e" /><Relationship Type="http://schemas.openxmlformats.org/officeDocument/2006/relationships/presProps" Target="/ppt/presProps.xml" Id="R2bba3a2d7f0249cb" /><Relationship Type="http://schemas.openxmlformats.org/officeDocument/2006/relationships/viewProps" Target="/ppt/viewProps.xml" Id="Rfc8d4916e9c24115" /><Relationship Type="http://schemas.openxmlformats.org/officeDocument/2006/relationships/tableStyles" Target="/ppt/tableStyles.xml" Id="Rc1d4d40cee4c4730" /><Relationship Type="http://schemas.openxmlformats.org/officeDocument/2006/relationships/slide" Target="/ppt/slides/slide1.xml" Id="R370d55797ef64318" /><Relationship Type="http://schemas.openxmlformats.org/officeDocument/2006/relationships/slide" Target="/ppt/slides/slide2.xml" Id="R5d4ab16450324abc" /><Relationship Type="http://schemas.openxmlformats.org/officeDocument/2006/relationships/slide" Target="/ppt/slides/slide3.xml" Id="R377d64a69e1e40ef" /><Relationship Type="http://schemas.openxmlformats.org/officeDocument/2006/relationships/slide" Target="/ppt/slides/slide4.xml" Id="R2bdd206369cd4a16" /><Relationship Type="http://schemas.openxmlformats.org/officeDocument/2006/relationships/slide" Target="/ppt/slides/slide5.xml" Id="R326d9c87d41d43fa" /><Relationship Type="http://schemas.openxmlformats.org/officeDocument/2006/relationships/slide" Target="/ppt/slides/slide6.xml" Id="R9f77fbb110c1454f" /><Relationship Type="http://schemas.openxmlformats.org/officeDocument/2006/relationships/slide" Target="/ppt/slides/slide7.xml" Id="R824ddf0baf9045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7058bcfa9147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107879e5474376" /><Relationship Type="http://schemas.openxmlformats.org/officeDocument/2006/relationships/notesMaster" Target="/ppt/notesMasters/notesMaster1.xml" Id="Rf69b729026fe41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b91cf6271f42fe" /><Relationship Type="http://schemas.openxmlformats.org/officeDocument/2006/relationships/notesMaster" Target="/ppt/notesMasters/notesMaster1.xml" Id="Rb79497e9983246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d47aaa939e4381" /><Relationship Type="http://schemas.openxmlformats.org/officeDocument/2006/relationships/notesMaster" Target="/ppt/notesMasters/notesMaster1.xml" Id="R26cf53d09c4d47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c83ecf81bb471c" /><Relationship Type="http://schemas.openxmlformats.org/officeDocument/2006/relationships/notesMaster" Target="/ppt/notesMasters/notesMaster1.xml" Id="R579cb72796bd46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2aff3c943f4c2b" /><Relationship Type="http://schemas.openxmlformats.org/officeDocument/2006/relationships/notesMaster" Target="/ppt/notesMasters/notesMaster1.xml" Id="Rdb599af0f09448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8ae770d4fd4ef4" /><Relationship Type="http://schemas.openxmlformats.org/officeDocument/2006/relationships/notesMaster" Target="/ppt/notesMasters/notesMaster1.xml" Id="R63c42db552a844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eb7333a3374de9" /><Relationship Type="http://schemas.openxmlformats.org/officeDocument/2006/relationships/notesMaster" Target="/ppt/notesMasters/notesMaster1.xml" Id="R56bf5462c3514e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e383f3e3fa4e8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bae8d54ed44289" /><Relationship Type="http://schemas.openxmlformats.org/officeDocument/2006/relationships/slideLayout" Target="/ppt/slideLayouts/slideLayout1.xml" Id="R47781d1e665a47b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781d1e665a47b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4e36d6485462a" /><Relationship Type="http://schemas.openxmlformats.org/officeDocument/2006/relationships/notesSlide" Target="/ppt/notesSlides/notesSlide1.xml" Id="Rc8fde7f90f0c43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0f3494b554754" /><Relationship Type="http://schemas.openxmlformats.org/officeDocument/2006/relationships/notesSlide" Target="/ppt/notesSlides/notesSlide2.xml" Id="Rf14f26d2e5f24b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ce039a9714ac6" /><Relationship Type="http://schemas.openxmlformats.org/officeDocument/2006/relationships/notesSlide" Target="/ppt/notesSlides/notesSlide3.xml" Id="Rc0a657974ec646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410e2fd4c42a3" /><Relationship Type="http://schemas.openxmlformats.org/officeDocument/2006/relationships/notesSlide" Target="/ppt/notesSlides/notesSlide4.xml" Id="R97364e2e93274f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03eabd8f74ce5" /><Relationship Type="http://schemas.openxmlformats.org/officeDocument/2006/relationships/notesSlide" Target="/ppt/notesSlides/notesSlide5.xml" Id="Rb17356e0ab854e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325cd159a41eb" /><Relationship Type="http://schemas.openxmlformats.org/officeDocument/2006/relationships/notesSlide" Target="/ppt/notesSlides/notesSlide6.xml" Id="Rcc765a1a5dc84b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7865ee60e4a30" /><Relationship Type="http://schemas.openxmlformats.org/officeDocument/2006/relationships/notesSlide" Target="/ppt/notesSlides/notesSlide7.xml" Id="R04a197ffe21146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478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D3CF92-0D62-4096-8948-987F38BD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ROUND 1 REVIEW</a:t>
            </a:r>
            <a:endParaRPr sz="5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491220-22DA-4847-A404-817953A2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A6E8"/>
                </a:solidFill>
                <a:latin typeface="Calibri"/>
                <a:ea typeface="Calibri"/>
                <a:cs typeface="Calibri"/>
              </a:rPr>
              <a:t>H4. The Medication Safety Second Pair of Eyes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94DCD11-DDC9-44B4-BB79-E4FE5FF3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032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Team Name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8183446-1675-41D6-B331-2063DAE7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[Team name required]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1FF699-A7B5-48BA-9DF1-E4EBC452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6032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Team Leader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0B27C9A-90CC-4D96-83D6-CE5B810C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80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[Team leader required]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75CE2D7-01D4-42CF-A7AB-AE137A08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3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Track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28B37B-36C2-4777-BC7F-2AF953B7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33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Healthcare / Problem 9 (H4)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FF76A3E-8F94-4561-A19B-A6F11161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83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Date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A65E39E-1FCA-4A5C-8F91-337738CC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33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20238940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CAE603D-D7AA-4BCA-B09A-2CF8F838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21360A4-3467-4DAD-85DD-EFCCD037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0CF8D3F-B967-42AE-A703-D0A94EEA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Problem Statement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855C4E4-593F-43BE-8BF4-EA04CC8E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863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Patients may take medicines from several prescribers, with mixed names and incomplete lists.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Clinicians need to spot interactions, duplicate therapy and patient-specific risks.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Missed serious issues can harm patients. Too many minor alerts can hide urgent ones.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13FA989-10F5-4114-B893-655C07F0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Market Opportunity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37D9B0E-6802-4C49-A382-3CAE93A4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78638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Initial users: clinicians and pharmacists reviewing patients on several medicines.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Proposed adoption: start with a small review workflow, then assess hospital integration.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Baseline: manual reference lookups. Our aim is one prioritized, explainable review.</a:t>
            </a:r>
          </a:p>
        </p:txBody>
      </p:sp>
    </p:spTree>
    <p:extLst>
      <p:ext uri="{BB962C8B-B14F-4D97-AF65-F5344CB8AC3E}">
        <p14:creationId xmlns:p14="http://schemas.microsoft.com/office/powerpoint/2010/main" val="941433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818F7-5D46-460D-9DED-ED716266AFC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78500" y="42100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092E3-B301-4C91-B168-D0BDEBD998E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98800" y="42100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EAC5E18-2335-4434-926D-40C6D6E6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BC13FF-7526-436A-95F3-F8C87F48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Proposed Solution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3DD88A-5781-4D3B-B5C8-3206C23E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Solution Overview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12D3E6C-6BE7-474E-B8DC-3C1D5F29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86384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Match brand names and misspellings to the supplied drug reference before checking.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Check interactions, duplicate therapy, renal-dose concerns and contraindications.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Show severity, involved medicines, a reference-backed action and confidence.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Flag uncertain matches for confirmation. A clinician makes the final decision.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4AD376-2CB1-4436-B338-EC5B1788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82296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Aft>
                <a:spcPts val="8"/>
              </a:spcAft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Proposed flow label">
            <a:extLst xmlns:a="http://schemas.openxmlformats.org/drawingml/2006/main">
              <a:ext uri="{FF2B5EF4-FFF2-40B4-BE49-F238E27FC236}">
                <a16:creationId xmlns:a16="http://schemas.microsoft.com/office/drawing/2014/main" id="{FD11BF34-ACA0-4A3D-ACE1-077BA68C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800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Proposed review flow</a:t>
            </a:r>
          </a:p>
        </p:txBody>
      </p:sp>
      <p:sp>
        <p:nvSpPr>
          <p:cNvPr id="8" name="Flow 1">
            <a:extLst xmlns:a="http://schemas.openxmlformats.org/drawingml/2006/main">
              <a:ext uri="{FF2B5EF4-FFF2-40B4-BE49-F238E27FC236}">
                <a16:creationId xmlns:a16="http://schemas.microsoft.com/office/drawing/2014/main" id="{1F028B16-353D-4285-87B7-0DA32504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Medication list</a:t>
            </a:r>
          </a:p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Patient context</a:t>
            </a:r>
          </a:p>
        </p:txBody>
      </p:sp>
      <p:sp>
        <p:nvSpPr>
          <p:cNvPr id="9" name="Flow 2">
            <a:extLst xmlns:a="http://schemas.openxmlformats.org/drawingml/2006/main">
              <a:ext uri="{FF2B5EF4-FFF2-40B4-BE49-F238E27FC236}">
                <a16:creationId xmlns:a16="http://schemas.microsoft.com/office/drawing/2014/main" id="{D8A6482A-EC32-44E6-A5A8-80E4C504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Name matching</a:t>
            </a:r>
          </a:p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Reference checks</a:t>
            </a:r>
          </a:p>
        </p:txBody>
      </p:sp>
      <p:sp>
        <p:nvSpPr>
          <p:cNvPr id="11" name="Flow 3">
            <a:extLst xmlns:a="http://schemas.openxmlformats.org/drawingml/2006/main">
              <a:ext uri="{FF2B5EF4-FFF2-40B4-BE49-F238E27FC236}">
                <a16:creationId xmlns:a16="http://schemas.microsoft.com/office/drawing/2014/main" id="{C38431AC-3FB9-4A8D-B1BE-72814A4B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Prioritized alerts</a:t>
            </a:r>
          </a:p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Clinician review</a:t>
            </a:r>
          </a:p>
        </p:txBody>
      </p:sp>
    </p:spTree>
    <p:extLst>
      <p:ext uri="{BB962C8B-B14F-4D97-AF65-F5344CB8AC3E}">
        <p14:creationId xmlns:p14="http://schemas.microsoft.com/office/powerpoint/2010/main" val="17382861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22F73-14B2-4A60-9045-F8758F1279A7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757988" y="30480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BD189-FFF8-4DF4-B2FF-A0DD7348A8C9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757988" y="248602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0F393-B391-4D12-A1A4-479FD2AF9379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757988" y="19240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1568ED2-F076-4485-A4CC-FAE8B483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0A1A73-73A2-4D4B-9204-33038E60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 Steps &amp; Architecture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C9C4AC-4D40-4975-B76A-0EAA5CAB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Technical Implementation</a:t>
            </a: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A362370-0F9F-4329-87CD-B7F63BAE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657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1. Load supplied drug, interaction and synthetic patient data.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2. Resolve medicine names using exact matches, then cautious fuzzy matching.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3. Apply reference rules and rank alerts by severity.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4. Build a simple review screen and test serious cases plus non-issues.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CD879B1-5CBF-48B5-8B4F-884BFE6A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0058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Architecture Diagram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C0E9A69-EB52-4A1E-A3DA-D203E94F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Aft>
                <a:spcPts val="8"/>
              </a:spcAft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Flow 1">
            <a:extLst xmlns:a="http://schemas.openxmlformats.org/drawingml/2006/main">
              <a:ext uri="{FF2B5EF4-FFF2-40B4-BE49-F238E27FC236}">
                <a16:creationId xmlns:a16="http://schemas.microsoft.com/office/drawing/2014/main" id="{D8739EAA-6B77-4CCF-B6B9-E5933692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495425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Patient list and context</a:t>
            </a:r>
          </a:p>
        </p:txBody>
      </p:sp>
      <p:sp>
        <p:nvSpPr>
          <p:cNvPr id="9" name="Flow 2">
            <a:extLst xmlns:a="http://schemas.openxmlformats.org/drawingml/2006/main">
              <a:ext uri="{FF2B5EF4-FFF2-40B4-BE49-F238E27FC236}">
                <a16:creationId xmlns:a16="http://schemas.microsoft.com/office/drawing/2014/main" id="{B3E4CA3A-5A11-4890-97C6-1F40EC52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057400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Name resolver + confidence</a:t>
            </a:r>
          </a:p>
        </p:txBody>
      </p:sp>
      <p:sp>
        <p:nvSpPr>
          <p:cNvPr id="11" name="Flow 3">
            <a:extLst xmlns:a="http://schemas.openxmlformats.org/drawingml/2006/main">
              <a:ext uri="{FF2B5EF4-FFF2-40B4-BE49-F238E27FC236}">
                <a16:creationId xmlns:a16="http://schemas.microsoft.com/office/drawing/2014/main" id="{118317C9-EA2B-4354-B9B1-3D829838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19375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Rules + supplied references</a:t>
            </a:r>
          </a:p>
        </p:txBody>
      </p:sp>
      <p:sp>
        <p:nvSpPr>
          <p:cNvPr id="13" name="Flow 4">
            <a:extLst xmlns:a="http://schemas.openxmlformats.org/drawingml/2006/main">
              <a:ext uri="{FF2B5EF4-FFF2-40B4-BE49-F238E27FC236}">
                <a16:creationId xmlns:a16="http://schemas.microsoft.com/office/drawing/2014/main" id="{0C206F93-CB53-474D-BBA1-8DB64E79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81350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Alert list for clinician review</a:t>
            </a:r>
          </a:p>
        </p:txBody>
      </p:sp>
      <p:sp>
        <p:nvSpPr>
          <p:cNvPr id="15" name="Build plan">
            <a:extLst xmlns:a="http://schemas.openxmlformats.org/drawingml/2006/main">
              <a:ext uri="{FF2B5EF4-FFF2-40B4-BE49-F238E27FC236}">
                <a16:creationId xmlns:a16="http://schemas.microsoft.com/office/drawing/2014/main" id="{2809B39D-7DEA-4EE3-84DD-7302255D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807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Planned stack: Python, RapidFuzz, pandas and Streamlit.</a:t>
            </a:r>
          </a:p>
          <a:p xmlns:a="http://schemas.openxmlformats.org/drawingml/2006/main">
            <a: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Day 1: matching and rules. Day 2: evaluation, review screen and demo.</a:t>
            </a:r>
          </a:p>
        </p:txBody>
      </p:sp>
    </p:spTree>
    <p:extLst>
      <p:ext uri="{BB962C8B-B14F-4D97-AF65-F5344CB8AC3E}">
        <p14:creationId xmlns:p14="http://schemas.microsoft.com/office/powerpoint/2010/main" val="9526947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2FFB892-659E-4D92-B645-396E52AE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F57BDFC-B250-40D2-9C70-5C977BB8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Challenges &amp; Mitigation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502CB8E-E2D9-490B-B1C5-E2C084CF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1: Wrong medicine match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08F07C-755F-44B2-A55D-85B3D6F6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similar names can refer to different medicines.</a:t>
            </a:r>
          </a:p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use exact matches first and require confirmation for ambiguity.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9ABE93C-5796-4407-9391-22816E8C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82296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E3F46A1-68DF-4C43-B425-17AE6CB1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2: Alert fatigue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AED52BB-34B5-41A0-AF34-443C89E5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too many low-severity warnings can distract the clinician.</a:t>
            </a:r>
          </a:p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rank by severity, merge duplicates and measure excess alerts.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C906200-D5BC-46F9-ABC3-16B38555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82296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7692CB0-6031-4F98-A29E-60EC343C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3: Incomplete clinical context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CF5D545-946C-47E6-A14C-ED71DEFD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missing medicines or patient details limit the checks.</a:t>
            </a:r>
          </a:p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show missing context and limitations. Never declare the list safe.</a:t>
            </a:r>
          </a:p>
        </p:txBody>
      </p:sp>
    </p:spTree>
    <p:extLst>
      <p:ext uri="{BB962C8B-B14F-4D97-AF65-F5344CB8AC3E}">
        <p14:creationId xmlns:p14="http://schemas.microsoft.com/office/powerpoint/2010/main" val="132292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D7487F5-B76A-4C6F-AEF1-6414AC12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01D2F09-5914-43C3-B26A-9A1F7104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Unique Selling Proposition (USP)</a:t>
            </a:r>
            <a:endParaRPr sz="4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E2E6798-5E91-43F1-B49B-389B8A93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CDD42A8-E361-49CA-82E4-61DCAE7D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44C1F55-87F9-412D-8649-FEEAEADF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Resolve names first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Show match confidence before applying safety rules.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9E6A721-E01E-4129-A62E-A2D427E2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F1EBB75-5C4C-41CB-A244-0E35E2A0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2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4909660-FA40-4E92-8EBC-E301F2F2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Prioritize useful alerts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Balance serious-issue detection against unnecessary warnings.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C29465C-0B48-494F-9F38-B392D244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591CAA2-A2A3-47A1-975E-DF23E2BA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3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E0124DB-36C4-4A39-9E32-C433969A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Explain each concern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Show supporting rules, limitations and a clinician action.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31835AA-AFFF-4B55-82E6-925848E9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Competitive Advantage Summary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6A95B0D-F334-4B13-B6BE-32483E3B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7863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Compared with a simple exact-name lookup, test whether cautious matching finds more valid cases.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Make uncertainty visible and keep every recommendation tied to the supplied references.</a:t>
            </a:r>
          </a:p>
        </p:txBody>
      </p:sp>
    </p:spTree>
    <p:extLst>
      <p:ext uri="{BB962C8B-B14F-4D97-AF65-F5344CB8AC3E}">
        <p14:creationId xmlns:p14="http://schemas.microsoft.com/office/powerpoint/2010/main" val="19336979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72AA8A-9C88-4C42-8E0F-C333E61A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BC9E411-492C-4DA2-9B19-C09BEDAD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&amp; POC Video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0DC813-9EA4-41A2-B867-53849237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Live Demonstration: proposed walkthrough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006ACB6-7CF0-4885-9ADD-E28E7DAD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63040"/>
            <a:ext cx="640080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25400">
            <a:solidFill>
              <a:srgbClr val="00A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01340FA-CD46-4F04-8477-AE6BCF39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590675"/>
            <a:ext cx="6115050" cy="2600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PLANNED DEMO — prototype not yet built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1. Load a supplied synthetic patient with mixed medicine names.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2. Confirm uncertain matches and show prioritized safety alerts.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3. Compare a serious-risk case with a case containing no flagged issue.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Planned evaluation: serious-issue recall, name-match accuracy,</a:t>
            </a:r>
            <a:b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low-severity alerts per patient and recall on 300 seeded near-misses.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4945E24-D238-4FF6-ADF1-2AE2AC92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0050"/>
            <a:ext cx="640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No video or measured results yet. Demo will follow implementation.</a:t>
            </a:r>
          </a:p>
        </p:txBody>
      </p:sp>
      <p:sp>
        <p:nvSpPr>
          <p:cNvPr id="8" name="Limitations">
            <a:extLst xmlns:a="http://schemas.openxmlformats.org/drawingml/2006/main">
              <a:ext uri="{FF2B5EF4-FFF2-40B4-BE49-F238E27FC236}">
                <a16:creationId xmlns:a16="http://schemas.microsoft.com/office/drawing/2014/main" id="{C0249458-7E78-4006-B541-62BA9B74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No issue found means only in the available list and supplied references. A clinician decides.</a:t>
            </a:r>
          </a:p>
        </p:txBody>
      </p:sp>
      <p:sp>
        <p:nvSpPr>
          <p:cNvPr id="9" name="AI disclosure">
            <a:extLst xmlns:a="http://schemas.openxmlformats.org/drawingml/2006/main">
              <a:ext uri="{FF2B5EF4-FFF2-40B4-BE49-F238E27FC236}">
                <a16:creationId xmlns:a16="http://schemas.microsoft.com/office/drawing/2014/main" id="{68FEA975-406D-4B92-933A-A06D1869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AI assistance: Gemini, Claude and ChatGPT/Codex for ideation and proposal drafting.</a:t>
            </a:r>
          </a:p>
        </p:txBody>
      </p:sp>
    </p:spTree>
    <p:extLst>
      <p:ext uri="{BB962C8B-B14F-4D97-AF65-F5344CB8AC3E}">
        <p14:creationId xmlns:p14="http://schemas.microsoft.com/office/powerpoint/2010/main" val="3576926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2026-10-17T10:58:05.3790000Z</dcterms:created>
  <dcterms:modified xsi:type="dcterms:W3CDTF">2026-10-17T10:58:05.3790000Z</dcterms:modified>
</coreProperties>
</file>