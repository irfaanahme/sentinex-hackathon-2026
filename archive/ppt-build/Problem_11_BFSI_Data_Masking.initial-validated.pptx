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4d6081b2454e46" /><Relationship Type="http://schemas.openxmlformats.org/officeDocument/2006/relationships/extended-properties" Target="/docProps/app.xml" Id="R78956cb1e05242a9" /><Relationship Type="http://schemas.openxmlformats.org/officeDocument/2006/relationships/officeDocument" Target="/ppt/presentation.xml" Id="Reda381508e414e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704e2b35854700"/>
  </p:sldMasterIdLst>
  <p:notesMasterIdLst>
    <p:notesMasterId xmlns:r="http://schemas.openxmlformats.org/officeDocument/2006/relationships" r:id="R99ecaed5513a4582"/>
  </p:notesMasterIdLst>
  <p:sldIdLst>
    <p:sldId xmlns:r="http://schemas.openxmlformats.org/officeDocument/2006/relationships" id="256" r:id="R0c576c2e7d114706"/>
    <p:sldId xmlns:r="http://schemas.openxmlformats.org/officeDocument/2006/relationships" id="257" r:id="Rf7b9584d75d846e1"/>
    <p:sldId xmlns:r="http://schemas.openxmlformats.org/officeDocument/2006/relationships" id="258" r:id="R73ea51d898e1409c"/>
    <p:sldId xmlns:r="http://schemas.openxmlformats.org/officeDocument/2006/relationships" id="259" r:id="R30a4820efacc4c8c"/>
    <p:sldId xmlns:r="http://schemas.openxmlformats.org/officeDocument/2006/relationships" id="260" r:id="Re09b78aac8504553"/>
    <p:sldId xmlns:r="http://schemas.openxmlformats.org/officeDocument/2006/relationships" id="261" r:id="R0a2a968647b84dde"/>
    <p:sldId xmlns:r="http://schemas.openxmlformats.org/officeDocument/2006/relationships" id="262" r:id="Rd87a851bcb504e0c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a996d016204cad" /><Relationship Type="http://schemas.openxmlformats.org/officeDocument/2006/relationships/slideMaster" Target="/ppt/slideMasters/slideMaster1.xml" Id="R7d704e2b35854700" /><Relationship Type="http://schemas.openxmlformats.org/officeDocument/2006/relationships/notesMaster" Target="/ppt/notesMasters/notesMaster1.xml" Id="R99ecaed5513a4582" /><Relationship Type="http://schemas.openxmlformats.org/officeDocument/2006/relationships/presProps" Target="/ppt/presProps.xml" Id="R671face4ceed41f9" /><Relationship Type="http://schemas.openxmlformats.org/officeDocument/2006/relationships/viewProps" Target="/ppt/viewProps.xml" Id="R7595b23dd4d44b84" /><Relationship Type="http://schemas.openxmlformats.org/officeDocument/2006/relationships/tableStyles" Target="/ppt/tableStyles.xml" Id="Rca8b50d4eba1468f" /><Relationship Type="http://schemas.openxmlformats.org/officeDocument/2006/relationships/slide" Target="/ppt/slides/slide1.xml" Id="R0c576c2e7d114706" /><Relationship Type="http://schemas.openxmlformats.org/officeDocument/2006/relationships/slide" Target="/ppt/slides/slide2.xml" Id="Rf7b9584d75d846e1" /><Relationship Type="http://schemas.openxmlformats.org/officeDocument/2006/relationships/slide" Target="/ppt/slides/slide3.xml" Id="R73ea51d898e1409c" /><Relationship Type="http://schemas.openxmlformats.org/officeDocument/2006/relationships/slide" Target="/ppt/slides/slide4.xml" Id="R30a4820efacc4c8c" /><Relationship Type="http://schemas.openxmlformats.org/officeDocument/2006/relationships/slide" Target="/ppt/slides/slide5.xml" Id="Re09b78aac8504553" /><Relationship Type="http://schemas.openxmlformats.org/officeDocument/2006/relationships/slide" Target="/ppt/slides/slide6.xml" Id="R0a2a968647b84dde" /><Relationship Type="http://schemas.openxmlformats.org/officeDocument/2006/relationships/slide" Target="/ppt/slides/slide7.xml" Id="Rd87a851bcb504e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991a7801e4f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4c431ea21c41ec" /><Relationship Type="http://schemas.openxmlformats.org/officeDocument/2006/relationships/notesMaster" Target="/ppt/notesMasters/notesMaster1.xml" Id="R0a8983c0694649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bb0868e9f4ba1" /><Relationship Type="http://schemas.openxmlformats.org/officeDocument/2006/relationships/notesMaster" Target="/ppt/notesMasters/notesMaster1.xml" Id="R1977a6b05cac43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6a56c34c904b0e" /><Relationship Type="http://schemas.openxmlformats.org/officeDocument/2006/relationships/notesMaster" Target="/ppt/notesMasters/notesMaster1.xml" Id="Rbba8a26fff0b4a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78b0252acd416e" /><Relationship Type="http://schemas.openxmlformats.org/officeDocument/2006/relationships/notesMaster" Target="/ppt/notesMasters/notesMaster1.xml" Id="R29ea6a8047ae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5b14ec01aa44cd" /><Relationship Type="http://schemas.openxmlformats.org/officeDocument/2006/relationships/notesMaster" Target="/ppt/notesMasters/notesMaster1.xml" Id="R33d02c538fc643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e946625c5a4673" /><Relationship Type="http://schemas.openxmlformats.org/officeDocument/2006/relationships/notesMaster" Target="/ppt/notesMasters/notesMaster1.xml" Id="R79aa00b99bfe40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f5d593656d4162" /><Relationship Type="http://schemas.openxmlformats.org/officeDocument/2006/relationships/notesMaster" Target="/ppt/notesMasters/notesMaster1.xml" Id="R1d24094a2fb948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e466577434af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4cb52bd22a45c1" /><Relationship Type="http://schemas.openxmlformats.org/officeDocument/2006/relationships/slideLayout" Target="/ppt/slideLayouts/slideLayout1.xml" Id="Ra13587b1a47240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3587b1a47240b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354a4978f4489" /><Relationship Type="http://schemas.openxmlformats.org/officeDocument/2006/relationships/notesSlide" Target="/ppt/notesSlides/notesSlide1.xml" Id="R5cf607550e5e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72aafd86d46b0" /><Relationship Type="http://schemas.openxmlformats.org/officeDocument/2006/relationships/notesSlide" Target="/ppt/notesSlides/notesSlide2.xml" Id="R0ee93167e8754c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8031ab03f4870" /><Relationship Type="http://schemas.openxmlformats.org/officeDocument/2006/relationships/notesSlide" Target="/ppt/notesSlides/notesSlide3.xml" Id="Rfd71349746f74d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81e6649ed4e78" /><Relationship Type="http://schemas.openxmlformats.org/officeDocument/2006/relationships/notesSlide" Target="/ppt/notesSlides/notesSlide4.xml" Id="Rc2f11b39ea1143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528de362444aa" /><Relationship Type="http://schemas.openxmlformats.org/officeDocument/2006/relationships/notesSlide" Target="/ppt/notesSlides/notesSlide5.xml" Id="R3351bca81b86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e702461549f7" /><Relationship Type="http://schemas.openxmlformats.org/officeDocument/2006/relationships/notesSlide" Target="/ppt/notesSlides/notesSlide6.xml" Id="Rb27721ce545841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3a0ccf9744bad" /><Relationship Type="http://schemas.openxmlformats.org/officeDocument/2006/relationships/notesSlide" Target="/ppt/notesSlides/notesSlide7.xml" Id="Rcceabc882b4f4a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7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6C53D9-A0E7-41B0-B0E0-AF6D835A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 REVIEW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52DDC1-C6D7-4B54-B9B1-26286267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A6E8"/>
                </a:solidFill>
                <a:latin typeface="Calibri"/>
                <a:ea typeface="Calibri"/>
                <a:cs typeface="Calibri"/>
              </a:rPr>
              <a:t>Smart Data Masking System for PII Protection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D041C0-D0D5-4CEC-BA41-6AA5366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Name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574C457-07FA-44BE-9580-05BE707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[Team name required]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6F8358-2C24-43A3-A131-8C9DD84C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Leader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476C5D9-537A-42A1-9A01-5163D2F7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[Team leader required]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AEBBD3-4356-494F-9E2A-BE58A24D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Track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AF873CB-847C-465F-B03F-5655C0A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BFSI / Problem 11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6FE476-E489-4BD0-B67C-F0FCFB28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Date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CAC1F93-83C2-4EBF-83FA-1B1F702E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636774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8B7C40-E32C-40D6-9545-57D914CC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C05113-45F3-48B3-854E-37A50C4F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7851DE-B1C9-40B4-8233-5D96E70B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B925CA-B86E-44A8-AD18-8E22F585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Sensitive customer fields can reach internal users who do not need the full values.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Support staff, analysts and administrators need different levels of access.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The task is to protect query results across databases while preserving the original records.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E727C5-B792-4C5E-A654-24D379E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Market Opportunity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BE6A3B-D680-484E-8BCD-138D4BDE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Initial users: financial institutions with support and analytics teams.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adoption: pilot a few sensitive tables, then expand approved policies.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Baseline: manually tagged fields or separate masked copies. We propose one reusable policy layer.</a:t>
            </a:r>
          </a:p>
        </p:txBody>
      </p:sp>
    </p:spTree>
    <p:extLst>
      <p:ext uri="{BB962C8B-B14F-4D97-AF65-F5344CB8AC3E}">
        <p14:creationId xmlns:p14="http://schemas.microsoft.com/office/powerpoint/2010/main" val="1846931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6CC67A2-A6BC-4604-AE59-28766480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EA13A7-CE0F-417B-8DE9-9949EE70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A34579-682A-4DF6-AFB7-8D5227E1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D10F0E-3F7D-4979-BEF3-6B648472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Scan column names and row samples with rules to identify sensitive fields.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Tag fields as PII_HIGH or FINANCIAL_CONFIDENTIAL and apply role policies.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Admin gets full values, Support partial masking, Analyst redaction or keyed hashes.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Enforce the policy before returning results on PostgreSQL and SQLite. Keep raw data unchanged.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7C2853-A145-4D86-9678-4DCB6969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Proposed flow label">
            <a:extLst xmlns:a="http://schemas.openxmlformats.org/drawingml/2006/main">
              <a:ext uri="{FF2B5EF4-FFF2-40B4-BE49-F238E27FC236}">
                <a16:creationId xmlns:a16="http://schemas.microsoft.com/office/drawing/2014/main" id="{7B8C5165-3AE8-4686-AA9E-C8213A3B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0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role views</a:t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F89D655D-CE87-4EE1-9E1C-D83B34D8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Admin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Full values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8F5FEAF4-7BF9-4738-93EC-E7869B1E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Support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Partial masking</a:t>
            </a:r>
          </a:p>
        </p:txBody>
      </p:sp>
      <p:sp>
        <p:nvSpPr>
          <p:cNvPr id="10" name="Flow 3">
            <a:extLst xmlns:a="http://schemas.openxmlformats.org/drawingml/2006/main">
              <a:ext uri="{FF2B5EF4-FFF2-40B4-BE49-F238E27FC236}">
                <a16:creationId xmlns:a16="http://schemas.microsoft.com/office/drawing/2014/main" id="{79E447A8-BA20-4C14-A1B4-3BBBC669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Analyst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Redaction or hashes</a:t>
            </a:r>
          </a:p>
        </p:txBody>
      </p:sp>
    </p:spTree>
    <p:extLst>
      <p:ext uri="{BB962C8B-B14F-4D97-AF65-F5344CB8AC3E}">
        <p14:creationId xmlns:p14="http://schemas.microsoft.com/office/powerpoint/2010/main" val="788893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BE232-D035-4A48-B2EB-269B0AF35105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757988" y="3048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2FBE8-67A8-48CD-9965-5C709F481986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757988" y="24860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AE4B4-6285-403F-9EDE-AD09D9C3BC0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757988" y="1924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52917C-8981-42C5-9B4A-C50F7EB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D2D80A-1EAE-48D8-98ED-C4A56D6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Steps &amp; Architecture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F6982-42CF-4C9A-B200-F1C7CADD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Technical Implementation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C7F9DF-8E3A-4116-A5E8-87C152D6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657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Connect read-only to PostgreSQL and SQLite.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Scan schema and samples, then review uncertain field tags.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Apply server-side role policies to approved query results.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4. Compare roles and test unchanged source records on both backends.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20EA9E-37EE-41FA-8D50-016BB7A2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39B1CD-C135-4074-8DCB-76FBFB8A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ADFA4AA1-3DFB-47DC-9404-3F842A4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954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Verified user role + approved query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7FEE2C94-3B84-43B4-BDFA-4984B3F5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5740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Read-only database adapter</a:t>
            </a:r>
          </a:p>
        </p:txBody>
      </p: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5A77B082-A64F-402A-AEDB-8C0E8573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1937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Field tags + masking policy</a:t>
            </a:r>
          </a:p>
        </p:txBody>
      </p:sp>
      <p:sp>
        <p:nvSpPr>
          <p:cNvPr id="13" name="Flow 4">
            <a:extLst xmlns:a="http://schemas.openxmlformats.org/drawingml/2006/main">
              <a:ext uri="{FF2B5EF4-FFF2-40B4-BE49-F238E27FC236}">
                <a16:creationId xmlns:a16="http://schemas.microsoft.com/office/drawing/2014/main" id="{C1814804-8057-4DCB-8310-DEF7D723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8135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Only permitted values reach user</a:t>
            </a:r>
          </a:p>
        </p:txBody>
      </p:sp>
      <p:sp>
        <p:nvSpPr>
          <p:cNvPr id="15" name="Build plan">
            <a:extLst xmlns:a="http://schemas.openxmlformats.org/drawingml/2006/main">
              <a:ext uri="{FF2B5EF4-FFF2-40B4-BE49-F238E27FC236}">
                <a16:creationId xmlns:a16="http://schemas.microsoft.com/office/drawing/2014/main" id="{E66BE8D5-A850-4DCB-9235-CFA941D8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07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stack: Python, SQLAlchemy and Streamlit.</a:t>
            </a:r>
          </a:p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Day 1: scan and policy engine. Day 2: second backend, access tests and demo.</a:t>
            </a:r>
          </a:p>
        </p:txBody>
      </p:sp>
    </p:spTree>
    <p:extLst>
      <p:ext uri="{BB962C8B-B14F-4D97-AF65-F5344CB8AC3E}">
        <p14:creationId xmlns:p14="http://schemas.microsoft.com/office/powerpoint/2010/main" val="1671017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52C5FF-D575-4E78-8398-BE32B040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232331-AE45-472B-9B2A-D0A74C89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Mitigation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30860A-785A-4E06-9EFD-7C32599F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1: Missed sensitive fields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871E8B-5033-47E8-973F-F454E6FD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names alone can misclassify customer fields.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combine schema and sample patterns. Block uncertain fields pending review.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BC29F4-EB2F-43F2-8669-09B950E5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954CEF-4B26-48CD-80CC-BBB6357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2: Access bypass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DF9476-C44C-4B20-8CF4-50414501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a forged role or unsupported query could expose data.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verify roles on the server, restrict queries and deny unsupported requests.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843B251-A88C-4C17-B010-EB524193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A5658EC-04BB-4DDF-B0B3-8C220B73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3: Different database behavior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C1D831-4EEB-439B-81DE-14EC004A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field types and query results can differ between backends.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use adapters and run the same role-policy tests on both databases.</a:t>
            </a:r>
          </a:p>
        </p:txBody>
      </p:sp>
    </p:spTree>
    <p:extLst>
      <p:ext uri="{BB962C8B-B14F-4D97-AF65-F5344CB8AC3E}">
        <p14:creationId xmlns:p14="http://schemas.microsoft.com/office/powerpoint/2010/main" val="1720050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DE0642-74C1-4429-B6C7-559AD14C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0BCEF1-EC9D-4011-B284-DDC478B0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Unique Selling Proposition (USP)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D368D45-3579-4C6A-80D4-FF6779F2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4019E8D-4193-4145-861E-64865D46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0E0C83-FB37-4A8B-9C96-970472BA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Discover and protect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Connect field detection directly to explicit masking policies.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731319E-85F2-41DD-8CBE-52A2D2D7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F417F7E-0E21-48FC-BAB2-EF17958A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2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7AB6DA-6996-4AEA-8260-E5E160BB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One policy, two backends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Check consistent role behavior on PostgreSQL and SQLite.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6EA5CA-AEC3-418A-8EE2-1DD4D9C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C57571-69D3-4DCA-B96D-734C1040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D62896-4531-4A2B-9130-566999CC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Originals stay intact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Mask returned values without creating a second customer-data copy.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4F2F51-92E3-4AF9-B213-BFC45DAE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Competitive Advantage Summary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D89941-1B18-454D-A954-9961024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Test the scanner against a column-name-only baseline to measure detection errors.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Use a small, inspectable policy layer with access tests instead of relying on screen-only hiding.</a:t>
            </a:r>
          </a:p>
        </p:txBody>
      </p:sp>
    </p:spTree>
    <p:extLst>
      <p:ext uri="{BB962C8B-B14F-4D97-AF65-F5344CB8AC3E}">
        <p14:creationId xmlns:p14="http://schemas.microsoft.com/office/powerpoint/2010/main" val="1211251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BDDDFD-87E3-461A-8044-99CDDF4A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C94B6D-DF8F-4462-9605-5D9CB740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POC Video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BBA9F98-017B-4160-BEE9-E40FB1AF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Live Demonstration: proposed walkthrough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1AD758-5B0C-4260-BC38-DE7467ED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640080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5400">
            <a:solidFill>
              <a:srgbClr val="00A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A38507-00D5-47B0-8556-71F77F23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90675"/>
            <a:ext cx="6115050" cy="2600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DEMO — prototype not yet built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Scan an approved synthetic customer table and inspect its field tags.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Run the same approved query as Admin, Support and Analyst.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Repeat on both backends, reject a forbidden request and check originals.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evaluation: scanner precision/recall, role-policy pass rate,</a:t>
            </a:r>
            <a:b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source-data equality and query latency against an unmasked baseline.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603941-765C-4DDA-B55C-0AC52DCC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No video or measured results yet. Demo will follow implementation.</a:t>
            </a:r>
          </a:p>
        </p:txBody>
      </p:sp>
      <p:sp>
        <p:nvSpPr>
          <p:cNvPr id="8" name="Limitations">
            <a:extLst xmlns:a="http://schemas.openxmlformats.org/drawingml/2006/main">
              <a:ext uri="{FF2B5EF4-FFF2-40B4-BE49-F238E27FC236}">
                <a16:creationId xmlns:a16="http://schemas.microsoft.com/office/drawing/2014/main" id="{40C5A2A9-C1AA-4595-BB2B-B887198B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MVP scope: approved read-only queries on two backends. Hashes are not a guarantee of anonymity.</a:t>
            </a:r>
          </a:p>
        </p:txBody>
      </p:sp>
      <p:sp>
        <p:nvSpPr>
          <p:cNvPr id="9" name="AI disclosure">
            <a:extLst xmlns:a="http://schemas.openxmlformats.org/drawingml/2006/main">
              <a:ext uri="{FF2B5EF4-FFF2-40B4-BE49-F238E27FC236}">
                <a16:creationId xmlns:a16="http://schemas.microsoft.com/office/drawing/2014/main" id="{B8830EED-E94E-42CE-B1FD-9AF20247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AI assistance: Gemini, Claude and ChatGPT/Codex for ideation and proposal drafting.</a:t>
            </a:r>
          </a:p>
        </p:txBody>
      </p:sp>
    </p:spTree>
    <p:extLst>
      <p:ext uri="{BB962C8B-B14F-4D97-AF65-F5344CB8AC3E}">
        <p14:creationId xmlns:p14="http://schemas.microsoft.com/office/powerpoint/2010/main" val="4890540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2026-10-17T10:58:08.8900000Z</dcterms:created>
  <dcterms:modified xsi:type="dcterms:W3CDTF">2026-10-17T10:58:08.8900000Z</dcterms:modified>
</coreProperties>
</file>