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31a0a439142da" /><Relationship Type="http://schemas.openxmlformats.org/officeDocument/2006/relationships/extended-properties" Target="/docProps/app.xml" Id="Rbc3258b983a84218" /><Relationship Type="http://schemas.openxmlformats.org/officeDocument/2006/relationships/officeDocument" Target="/ppt/presentation.xml" Id="R39147f747fe845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4005fa19d40eb"/>
  </p:sldMasterIdLst>
  <p:notesMasterIdLst>
    <p:notesMasterId xmlns:r="http://schemas.openxmlformats.org/officeDocument/2006/relationships" r:id="R502bf22139ed4161"/>
  </p:notesMasterIdLst>
  <p:sldIdLst>
    <p:sldId xmlns:r="http://schemas.openxmlformats.org/officeDocument/2006/relationships" id="256" r:id="R52fc4c22fb4b4040"/>
    <p:sldId xmlns:r="http://schemas.openxmlformats.org/officeDocument/2006/relationships" id="257" r:id="R171dd49d7d8848fb"/>
    <p:sldId xmlns:r="http://schemas.openxmlformats.org/officeDocument/2006/relationships" id="258" r:id="R5c2cf5b243bb4912"/>
    <p:sldId xmlns:r="http://schemas.openxmlformats.org/officeDocument/2006/relationships" id="259" r:id="R5ec0e63e94d149fe"/>
    <p:sldId xmlns:r="http://schemas.openxmlformats.org/officeDocument/2006/relationships" id="260" r:id="R9ebbd53dfa614bff"/>
    <p:sldId xmlns:r="http://schemas.openxmlformats.org/officeDocument/2006/relationships" id="261" r:id="Rf5d1b0b8be114960"/>
    <p:sldId xmlns:r="http://schemas.openxmlformats.org/officeDocument/2006/relationships" id="262" r:id="R86fd618833d741fa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791b82d864294" /><Relationship Type="http://schemas.openxmlformats.org/officeDocument/2006/relationships/slideMaster" Target="/ppt/slideMasters/slideMaster1.xml" Id="Rb0d4005fa19d40eb" /><Relationship Type="http://schemas.openxmlformats.org/officeDocument/2006/relationships/notesMaster" Target="/ppt/notesMasters/notesMaster1.xml" Id="R502bf22139ed4161" /><Relationship Type="http://schemas.openxmlformats.org/officeDocument/2006/relationships/presProps" Target="/ppt/presProps.xml" Id="R1aeda63477aa4177" /><Relationship Type="http://schemas.openxmlformats.org/officeDocument/2006/relationships/viewProps" Target="/ppt/viewProps.xml" Id="R342ad95c2c70474c" /><Relationship Type="http://schemas.openxmlformats.org/officeDocument/2006/relationships/tableStyles" Target="/ppt/tableStyles.xml" Id="R5733ae3a6db24ae5" /><Relationship Type="http://schemas.openxmlformats.org/officeDocument/2006/relationships/slide" Target="/ppt/slides/slide1.xml" Id="R52fc4c22fb4b4040" /><Relationship Type="http://schemas.openxmlformats.org/officeDocument/2006/relationships/slide" Target="/ppt/slides/slide2.xml" Id="R171dd49d7d8848fb" /><Relationship Type="http://schemas.openxmlformats.org/officeDocument/2006/relationships/slide" Target="/ppt/slides/slide3.xml" Id="R5c2cf5b243bb4912" /><Relationship Type="http://schemas.openxmlformats.org/officeDocument/2006/relationships/slide" Target="/ppt/slides/slide4.xml" Id="R5ec0e63e94d149fe" /><Relationship Type="http://schemas.openxmlformats.org/officeDocument/2006/relationships/slide" Target="/ppt/slides/slide5.xml" Id="R9ebbd53dfa614bff" /><Relationship Type="http://schemas.openxmlformats.org/officeDocument/2006/relationships/slide" Target="/ppt/slides/slide6.xml" Id="Rf5d1b0b8be114960" /><Relationship Type="http://schemas.openxmlformats.org/officeDocument/2006/relationships/slide" Target="/ppt/slides/slide7.xml" Id="R86fd618833d741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192adc2914c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cc63b730e49ae" /><Relationship Type="http://schemas.openxmlformats.org/officeDocument/2006/relationships/notesMaster" Target="/ppt/notesMasters/notesMaster1.xml" Id="Rae88541cb7a4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9a554af0344ae1" /><Relationship Type="http://schemas.openxmlformats.org/officeDocument/2006/relationships/notesMaster" Target="/ppt/notesMasters/notesMaster1.xml" Id="Rf85489a4b9ad44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a145aad884ed0" /><Relationship Type="http://schemas.openxmlformats.org/officeDocument/2006/relationships/notesMaster" Target="/ppt/notesMasters/notesMaster1.xml" Id="R97d9195a714d4a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9278d6c244f83" /><Relationship Type="http://schemas.openxmlformats.org/officeDocument/2006/relationships/notesMaster" Target="/ppt/notesMasters/notesMaster1.xml" Id="R567c29f9c81541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430602a434a1c" /><Relationship Type="http://schemas.openxmlformats.org/officeDocument/2006/relationships/notesMaster" Target="/ppt/notesMasters/notesMaster1.xml" Id="R38dbcce8ce2347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b40ae06ad74111" /><Relationship Type="http://schemas.openxmlformats.org/officeDocument/2006/relationships/notesMaster" Target="/ppt/notesMasters/notesMaster1.xml" Id="R124a921d2cd742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e60e68c6b1433f" /><Relationship Type="http://schemas.openxmlformats.org/officeDocument/2006/relationships/notesMaster" Target="/ppt/notesMasters/notesMaster1.xml" Id="R4690451f2e4b4d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daf314a6047e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622be6b3cf44dc" /><Relationship Type="http://schemas.openxmlformats.org/officeDocument/2006/relationships/slideLayout" Target="/ppt/slideLayouts/slideLayout1.xml" Id="R5266a573e7e04bb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66a573e7e04bb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3ad34379a4d53" /><Relationship Type="http://schemas.openxmlformats.org/officeDocument/2006/relationships/notesSlide" Target="/ppt/notesSlides/notesSlide1.xml" Id="R0532c4d3c568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cb9b7ffd6448f" /><Relationship Type="http://schemas.openxmlformats.org/officeDocument/2006/relationships/notesSlide" Target="/ppt/notesSlides/notesSlide2.xml" Id="R860d50122f3944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52769f6cc419f" /><Relationship Type="http://schemas.openxmlformats.org/officeDocument/2006/relationships/notesSlide" Target="/ppt/notesSlides/notesSlide3.xml" Id="R30d76a60459c4b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57577c0aa4e92" /><Relationship Type="http://schemas.openxmlformats.org/officeDocument/2006/relationships/notesSlide" Target="/ppt/notesSlides/notesSlide4.xml" Id="R8775168a959b47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da0b6966d4f35" /><Relationship Type="http://schemas.openxmlformats.org/officeDocument/2006/relationships/notesSlide" Target="/ppt/notesSlides/notesSlide5.xml" Id="Rfdb28fab43434f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cff1dd44e445f" /><Relationship Type="http://schemas.openxmlformats.org/officeDocument/2006/relationships/notesSlide" Target="/ppt/notesSlides/notesSlide6.xml" Id="Ra41d9607eb284c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fb2a307834dbc" /><Relationship Type="http://schemas.openxmlformats.org/officeDocument/2006/relationships/notesSlide" Target="/ppt/notesSlides/notesSlide7.xml" Id="Re9d88b391563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7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1AC1F7-C5BB-484B-A110-22838CB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 REVIEW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0E2DBC-159E-4277-A567-4107C696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A6E8"/>
                </a:solidFill>
                <a:latin typeface="Calibri"/>
                <a:ea typeface="Calibri"/>
                <a:cs typeface="Calibri"/>
              </a:rPr>
              <a:t>H4. The Medication Safety Second Pair of Eyes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391BCC-AEFF-460E-81A6-C4263237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Name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FCC2A76-4874-446F-B188-53AE94D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SENTINEX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511B021-E50E-490E-9062-C70C332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Leader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1E5639-6688-4A58-9AB5-733313D2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Aswini Lakshya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7689C2-AA1A-41B2-ACFA-A9FAA01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Track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CB6D2F-F61F-4C36-B6EC-B751C8D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Healthcare / Problem 9 (H4)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14D25B6-88B4-4142-9ED5-A5DE759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Date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A02C413-0C03-4E92-8EEC-13A31F21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25982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730E5A-B7A8-4070-80D8-B891C946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C21943-283F-4F9B-8845-D087C67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8FCF33-B8AD-4D33-8AA2-47F93135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7C720A-CB03-4AFA-800C-229798CB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Patients may take medicines from several prescribers, with mixed names and incomplete lists.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Clinicians need to spot interactions, duplicate therapy and patient-specific risks.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Missed serious issues can harm patients. Too many minor alerts can hide urgent ones.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171B8E5-1015-4976-B88D-1B0BAD5E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Market Opportunity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A6B378-FA89-4CB6-8E40-3B1A84B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Initial users: clinicians and pharmacists reviewing patients on several medicines.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adoption: start with a small review workflow, then assess hospital integration.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Baseline: manual reference lookups. Our aim is one prioritized, explainable review.</a:t>
            </a:r>
          </a:p>
        </p:txBody>
      </p:sp>
    </p:spTree>
    <p:extLst>
      <p:ext uri="{BB962C8B-B14F-4D97-AF65-F5344CB8AC3E}">
        <p14:creationId xmlns:p14="http://schemas.microsoft.com/office/powerpoint/2010/main" val="1690442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F571436-76B5-418C-A6A1-F18627DE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2C4F37-CB24-4437-A5A6-949DC8A6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3C5F1A-D44E-4E8F-9BFA-2F9E918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088835-1AB6-4634-BB25-C67D312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Match brand names and misspellings to the supplied drug reference before checking.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Check interactions, duplicate therapy, renal-dose concerns and contraindications.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severity, involved medicines, a reference-backed action and confidence.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Flag uncertain matches for confirmation. A clinician makes the final decision.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ACDE4B-252C-4B5E-8978-B84368E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Proposed flow label">
            <a:extLst xmlns:a="http://schemas.openxmlformats.org/drawingml/2006/main">
              <a:ext uri="{FF2B5EF4-FFF2-40B4-BE49-F238E27FC236}">
                <a16:creationId xmlns:a16="http://schemas.microsoft.com/office/drawing/2014/main" id="{652DA85C-6604-4CA4-90BC-C2F5E1F8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0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review flow</a:t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F599468A-B491-4B9F-B6F1-8A7598EB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Medication list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Patient context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EAF682C8-7047-49A9-A4AE-CA517F37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Name matching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Reference checks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CE5F0-4C6D-4DC4-83E0-28F95D0E5F6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98800" y="42100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87E9ED53-5E46-4150-9FF5-EC0F1EB0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Prioritized alerts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Clinician review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AA6D7-6CCB-4D72-ADD1-A446E82A2A2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78500" y="42100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99999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21CD8C-82F6-458E-871B-8344580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9AA859-8C10-43CA-B447-9870088B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Steps &amp; Architecture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B467CD-72B9-4AA2-BEC0-8128802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Technical Implementation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29C775-075C-4954-9B3F-0C9B28C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657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Load supplied drug, interaction and synthetic patient data.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Resolve medicine names using exact matches, then cautious fuzzy matching.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Apply reference rules and rank alerts by severity.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4. Build a simple review screen and test serious cases plus non-issues.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E9CE97-0202-4E46-949F-1C7F77C3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441525-7060-4760-8E37-EA675236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55EE1D1C-DA6A-49C9-B3F8-82F4D6B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954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Patient list and context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9E3556AC-CEB5-434A-8060-DD92E292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5740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Name resolver + confidence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1198F-EE3B-4297-9E85-62487547C5D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757988" y="1924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5BFA7CCD-C183-426E-83A5-E44C0150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1937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Rules + supplied references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E1B2A-7B07-4CAF-B121-077051F90BF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757988" y="24860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3" name="Flow 4">
            <a:extLst xmlns:a="http://schemas.openxmlformats.org/drawingml/2006/main">
              <a:ext uri="{FF2B5EF4-FFF2-40B4-BE49-F238E27FC236}">
                <a16:creationId xmlns:a16="http://schemas.microsoft.com/office/drawing/2014/main" id="{EC5EFA46-78F9-4762-8530-B2D8B3C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8135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Alert list for clinician review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E0B56-AB49-479A-AC80-1108D326451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757988" y="3048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5" name="Build plan">
            <a:extLst xmlns:a="http://schemas.openxmlformats.org/drawingml/2006/main">
              <a:ext uri="{FF2B5EF4-FFF2-40B4-BE49-F238E27FC236}">
                <a16:creationId xmlns:a16="http://schemas.microsoft.com/office/drawing/2014/main" id="{2CD7C4CE-5CDF-44E0-B036-1FBBAA00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07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stack: Python, RapidFuzz, pandas and Streamlit.</a:t>
            </a:r>
          </a:p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Day 1: matching and rules. Day 2: evaluation, review screen and demo.</a:t>
            </a:r>
          </a:p>
        </p:txBody>
      </p:sp>
    </p:spTree>
    <p:extLst>
      <p:ext uri="{BB962C8B-B14F-4D97-AF65-F5344CB8AC3E}">
        <p14:creationId xmlns:p14="http://schemas.microsoft.com/office/powerpoint/2010/main" val="1933860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946B3D-C779-4448-84E3-C20190A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7445EE-D61F-42F2-BDD5-9BF40E3E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Mitigation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3BF0B5-D3CD-4E5C-94F2-E35CF059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1: Wrong medicine match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CAE792-3CC1-473D-9BF4-C7D11102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similar names can refer to different medicines.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use exact matches first and require confirmation for ambiguity.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F089765-557D-4CB1-8CB7-6D109BC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7D6566-A32B-4A52-BE3F-01B1F60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2: Alert fatigue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100314-8B7F-485D-969D-1635FF4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too many low-severity warnings can distract the clinician.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rank by severity, merge duplicates and measure excess alerts.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6A8062-5B7A-44A1-ABC7-BC691DA1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9684AD-BDED-48DE-9E88-7F1A088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3: Incomplete clinical context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9E74C9C-16DC-4834-87E5-FA8331BA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missing medicines or patient details limit the checks.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show missing context and limitations. Never declare the list safe.</a:t>
            </a:r>
          </a:p>
        </p:txBody>
      </p:sp>
    </p:spTree>
    <p:extLst>
      <p:ext uri="{BB962C8B-B14F-4D97-AF65-F5344CB8AC3E}">
        <p14:creationId xmlns:p14="http://schemas.microsoft.com/office/powerpoint/2010/main" val="1002175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664C1D-35DF-48DA-8634-B84ABFB8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BA1C6F-F192-4DA2-AA13-9265F5B1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Unique Selling Proposition (USP)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25B521-F3E5-48D0-8B67-6246A965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2AE660-96CC-40F2-BE71-9DE59163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A3DED7-D80E-4215-8C48-4C20BA1B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Resolve names first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match confidence before applying safety rules.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89C15D6-F9E4-419C-ADC2-46E8E6D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C0E488-BF09-4482-90C1-FEBA11F0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2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4DE60D-4549-466B-AC19-FB2EB5F2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Prioritize useful alerts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Balance serious-issue detection against unnecessary warnings.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6909F6B-795F-4F29-970B-241EE95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F78D3A-0D79-4E56-9217-3FE31286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F7DD0-9C12-4D48-8CDB-CF4B53BE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Explain each concern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supporting rules, limitations and a clinician action.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0178F4-DF79-4B78-A08C-0AF5A64F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Competitive Advantage Summary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7FDE2E-A7B1-41E4-BA65-DA05F0A3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Compared with a simple exact-name lookup, test whether cautious matching finds more valid cases.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Make uncertainty visible and keep every recommendation tied to the supplied references.</a:t>
            </a:r>
          </a:p>
        </p:txBody>
      </p:sp>
    </p:spTree>
    <p:extLst>
      <p:ext uri="{BB962C8B-B14F-4D97-AF65-F5344CB8AC3E}">
        <p14:creationId xmlns:p14="http://schemas.microsoft.com/office/powerpoint/2010/main" val="548700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E27131-23FE-4272-85AC-B6335E8F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B5365C-A612-4B60-B0AD-BEF70CA4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POC Video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3EA468-16C6-44E6-863A-8331FBF7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Live Demonstration: proposed walkthrough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D03069-4724-48F1-82B8-7381183B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640080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5400">
            <a:solidFill>
              <a:srgbClr val="00A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86E539-A390-49F4-9EC3-36C5D101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90675"/>
            <a:ext cx="6115050" cy="2600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DEMO — prototype not yet built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Load a supplied synthetic patient with mixed medicine names.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Confirm uncertain matches and show prioritized safety alerts.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Compare a serious-risk case with a case containing no flagged issue.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evaluation: serious-issue recall, name-match accuracy,</a:t>
            </a:r>
            <a:b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low-severity alerts per patient and recall on 300 seeded near-misses.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FEB500-C2D2-4260-84FF-D3E48C0B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No video or measured results yet. Demo will follow implementation.</a:t>
            </a:r>
          </a:p>
        </p:txBody>
      </p:sp>
      <p:sp>
        <p:nvSpPr>
          <p:cNvPr id="8" name="Limitations">
            <a:extLst xmlns:a="http://schemas.openxmlformats.org/drawingml/2006/main">
              <a:ext uri="{FF2B5EF4-FFF2-40B4-BE49-F238E27FC236}">
                <a16:creationId xmlns:a16="http://schemas.microsoft.com/office/drawing/2014/main" id="{4DB990A0-CAFB-420B-818B-A0C859F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No issue found means only in the available list and supplied references. A clinician decides.</a:t>
            </a:r>
          </a:p>
        </p:txBody>
      </p:sp>
      <p:sp>
        <p:nvSpPr>
          <p:cNvPr id="9" name="AI disclosure">
            <a:extLst xmlns:a="http://schemas.openxmlformats.org/drawingml/2006/main">
              <a:ext uri="{FF2B5EF4-FFF2-40B4-BE49-F238E27FC236}">
                <a16:creationId xmlns:a16="http://schemas.microsoft.com/office/drawing/2014/main" id="{B9C15713-5E22-4976-8CB9-12A770C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AI assistance: Gemini, Claude and ChatGPT/Codex for ideation and proposal drafting.</a:t>
            </a:r>
          </a:p>
        </p:txBody>
      </p:sp>
    </p:spTree>
    <p:extLst>
      <p:ext uri="{BB962C8B-B14F-4D97-AF65-F5344CB8AC3E}">
        <p14:creationId xmlns:p14="http://schemas.microsoft.com/office/powerpoint/2010/main" val="867128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2026-10-17T10:59:14.9530000Z</dcterms:created>
  <dcterms:modified xsi:type="dcterms:W3CDTF">2026-10-17T10:59:14.9530000Z</dcterms:modified>
</coreProperties>
</file>